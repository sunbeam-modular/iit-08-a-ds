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2"/>
    <p:sldId id="291" r:id="rId3"/>
    <p:sldId id="292" r:id="rId4"/>
    <p:sldId id="293" r:id="rId5"/>
    <p:sldId id="295" r:id="rId6"/>
    <p:sldId id="299" r:id="rId7"/>
    <p:sldId id="296" r:id="rId8"/>
    <p:sldId id="29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300" r:id="rId22"/>
    <p:sldId id="301" r:id="rId23"/>
    <p:sldId id="302" r:id="rId24"/>
    <p:sldId id="303" r:id="rId25"/>
    <p:sldId id="289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7167"/>
            <a:ext cx="12192000" cy="561340"/>
          </a:xfrm>
          <a:custGeom>
            <a:avLst/>
            <a:gdLst/>
            <a:ahLst/>
            <a:cxnLst/>
            <a:rect l="l" t="t" r="r" b="b"/>
            <a:pathLst>
              <a:path w="12192000" h="561340">
                <a:moveTo>
                  <a:pt x="12192000" y="0"/>
                </a:moveTo>
                <a:lnTo>
                  <a:pt x="0" y="0"/>
                </a:lnTo>
                <a:lnTo>
                  <a:pt x="0" y="560832"/>
                </a:lnTo>
                <a:lnTo>
                  <a:pt x="12192000" y="5608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3C54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297167"/>
            <a:ext cx="12192000" cy="561340"/>
          </a:xfrm>
          <a:custGeom>
            <a:avLst/>
            <a:gdLst/>
            <a:ahLst/>
            <a:cxnLst/>
            <a:rect l="l" t="t" r="r" b="b"/>
            <a:pathLst>
              <a:path w="12192000" h="561340">
                <a:moveTo>
                  <a:pt x="0" y="560832"/>
                </a:moveTo>
                <a:lnTo>
                  <a:pt x="12192000" y="560832"/>
                </a:lnTo>
                <a:lnTo>
                  <a:pt x="12192000" y="0"/>
                </a:lnTo>
                <a:lnTo>
                  <a:pt x="0" y="0"/>
                </a:lnTo>
                <a:lnTo>
                  <a:pt x="0" y="560832"/>
                </a:lnTo>
                <a:close/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320026"/>
            <a:ext cx="484631" cy="4846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31614" y="2124913"/>
            <a:ext cx="279590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C548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C548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C548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C548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7168"/>
            <a:ext cx="12192000" cy="560705"/>
          </a:xfrm>
          <a:custGeom>
            <a:avLst/>
            <a:gdLst/>
            <a:ahLst/>
            <a:cxnLst/>
            <a:rect l="l" t="t" r="r" b="b"/>
            <a:pathLst>
              <a:path w="12192000" h="560704">
                <a:moveTo>
                  <a:pt x="12192000" y="0"/>
                </a:moveTo>
                <a:lnTo>
                  <a:pt x="0" y="0"/>
                </a:lnTo>
                <a:lnTo>
                  <a:pt x="0" y="560324"/>
                </a:lnTo>
                <a:lnTo>
                  <a:pt x="12192000" y="560324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297168"/>
            <a:ext cx="12192000" cy="560705"/>
          </a:xfrm>
          <a:custGeom>
            <a:avLst/>
            <a:gdLst/>
            <a:ahLst/>
            <a:cxnLst/>
            <a:rect l="l" t="t" r="r" b="b"/>
            <a:pathLst>
              <a:path w="12192000" h="560704">
                <a:moveTo>
                  <a:pt x="0" y="560324"/>
                </a:moveTo>
                <a:lnTo>
                  <a:pt x="12192000" y="560324"/>
                </a:lnTo>
                <a:lnTo>
                  <a:pt x="12192000" y="0"/>
                </a:lnTo>
                <a:lnTo>
                  <a:pt x="0" y="0"/>
                </a:lnTo>
                <a:lnTo>
                  <a:pt x="0" y="560324"/>
                </a:lnTo>
                <a:close/>
              </a:path>
            </a:pathLst>
          </a:custGeom>
          <a:ln w="12191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92" y="6320026"/>
            <a:ext cx="484631" cy="48463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681226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4">
                <a:moveTo>
                  <a:pt x="12192000" y="0"/>
                </a:moveTo>
                <a:lnTo>
                  <a:pt x="0" y="0"/>
                </a:lnTo>
                <a:lnTo>
                  <a:pt x="0" y="63882"/>
                </a:lnTo>
                <a:lnTo>
                  <a:pt x="12192000" y="6388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78179"/>
            <a:ext cx="12192000" cy="69850"/>
          </a:xfrm>
          <a:custGeom>
            <a:avLst/>
            <a:gdLst/>
            <a:ahLst/>
            <a:cxnLst/>
            <a:rect l="l" t="t" r="r" b="b"/>
            <a:pathLst>
              <a:path w="12192000" h="69850">
                <a:moveTo>
                  <a:pt x="0" y="69723"/>
                </a:moveTo>
                <a:lnTo>
                  <a:pt x="12192000" y="69723"/>
                </a:lnTo>
              </a:path>
              <a:path w="12192000" h="6985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675131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2000" y="64020"/>
                </a:moveTo>
                <a:lnTo>
                  <a:pt x="0" y="64020"/>
                </a:lnTo>
                <a:lnTo>
                  <a:pt x="0" y="76200"/>
                </a:lnTo>
                <a:lnTo>
                  <a:pt x="12192000" y="76200"/>
                </a:lnTo>
                <a:lnTo>
                  <a:pt x="12192000" y="64020"/>
                </a:lnTo>
                <a:close/>
              </a:path>
              <a:path w="12192000" h="76200">
                <a:moveTo>
                  <a:pt x="12192000" y="0"/>
                </a:moveTo>
                <a:lnTo>
                  <a:pt x="0" y="0"/>
                </a:lnTo>
                <a:lnTo>
                  <a:pt x="0" y="12192"/>
                </a:lnTo>
                <a:lnTo>
                  <a:pt x="12192000" y="121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2D5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503" y="80517"/>
            <a:ext cx="8525510" cy="538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C548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18767" y="1537588"/>
            <a:ext cx="8554720" cy="290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nbeaminfo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eaminfo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unbeaminfo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unbeaminfo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unbeaminfo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eaminfo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eaminfo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530967" y="6463522"/>
            <a:ext cx="158750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spc="-5" dirty="0">
                <a:solidFill>
                  <a:srgbClr val="FFFFFF"/>
                </a:solidFill>
                <a:latin typeface="Ebrima"/>
                <a:cs typeface="Ebrima"/>
                <a:hlinkClick r:id="rId2"/>
              </a:rPr>
              <a:t>www.sunbeaminfo.com</a:t>
            </a:r>
            <a:endParaRPr sz="1200">
              <a:latin typeface="Ebrima"/>
              <a:cs typeface="Ebri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294967295"/>
          </p:nvPr>
        </p:nvSpPr>
        <p:spPr>
          <a:xfrm>
            <a:off x="2833306" y="4933891"/>
            <a:ext cx="6526022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Trainer : Sujata </a:t>
            </a:r>
            <a:r>
              <a:rPr lang="en-US" sz="2400" dirty="0" err="1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Mohite</a:t>
            </a:r>
            <a:endParaRPr lang="en-US" sz="2400" dirty="0">
              <a:solidFill>
                <a:srgbClr val="0070C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Email: sujata.mohite@sunbeaminfo.com</a:t>
            </a:r>
          </a:p>
          <a:p>
            <a:endParaRPr lang="en-US" sz="1800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762001"/>
            <a:ext cx="12192000" cy="32004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 prst="angle"/>
              <a:bevelB w="38100" h="38100" prst="angle"/>
            </a:sp3d>
          </a:bodyPr>
          <a:lstStyle/>
          <a:p>
            <a:pPr algn="ctr"/>
            <a:r>
              <a:rPr lang="en-IN" sz="7200" b="1" dirty="0" smtClean="0">
                <a:solidFill>
                  <a:schemeClr val="accent1">
                    <a:lumMod val="75000"/>
                  </a:schemeClr>
                </a:solidFill>
              </a:rPr>
              <a:t>MACHINE LEARNING</a:t>
            </a:r>
            <a:br>
              <a:rPr lang="en-IN" sz="72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7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7200" b="1" dirty="0" smtClean="0">
                <a:solidFill>
                  <a:schemeClr val="accent1">
                    <a:lumMod val="75000"/>
                  </a:schemeClr>
                </a:solidFill>
              </a:rPr>
              <a:t>End to End Process</a:t>
            </a: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5237226" y="6471158"/>
            <a:ext cx="171640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Sunbeam</a:t>
            </a:r>
            <a:r>
              <a:rPr spc="-55" dirty="0"/>
              <a:t> </a:t>
            </a:r>
            <a:r>
              <a:rPr spc="-10" dirty="0"/>
              <a:t>Infotech</a:t>
            </a:r>
          </a:p>
        </p:txBody>
      </p:sp>
    </p:spTree>
    <p:extLst>
      <p:ext uri="{BB962C8B-B14F-4D97-AF65-F5344CB8AC3E}">
        <p14:creationId xmlns:p14="http://schemas.microsoft.com/office/powerpoint/2010/main" val="60885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5400" y="2590800"/>
            <a:ext cx="10210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u="sng" spc="-10" dirty="0" smtClean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Measures of </a:t>
            </a:r>
            <a:r>
              <a:rPr sz="6000" u="sng" spc="-10" dirty="0" smtClean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sz="6000" u="sng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69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2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Terminology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503" y="865192"/>
            <a:ext cx="12025504" cy="46461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Univariate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type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consists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(eg.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Temperature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value)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does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deal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causes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relationships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main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purpose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describe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patterns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exist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sz="20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125"/>
              </a:spcBef>
              <a:buClr>
                <a:srgbClr val="3C5480"/>
              </a:buClr>
              <a:buFont typeface="Wingdings"/>
              <a:buChar char=""/>
            </a:pP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Bivariate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type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involves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type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deals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with causes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relationships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done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out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among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130"/>
              </a:spcBef>
              <a:buClr>
                <a:srgbClr val="3C5480"/>
              </a:buClr>
              <a:buFont typeface="Wingdings"/>
              <a:buChar char=""/>
            </a:pP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Multivariate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involves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more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similar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bivariate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contains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more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independent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0" y="2286000"/>
            <a:ext cx="3280284" cy="15487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41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2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Terminology</a:t>
            </a:r>
            <a:endParaRPr u="sng" spc="-25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9" y="1156251"/>
            <a:ext cx="11953241" cy="354327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Independent</a:t>
            </a:r>
            <a:r>
              <a:rPr sz="20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variable(s)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1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represents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quantity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being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manipulated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experiment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Represents</a:t>
            </a:r>
            <a:r>
              <a:rPr sz="20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Also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known</a:t>
            </a:r>
            <a:r>
              <a:rPr sz="2000" spc="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as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regressors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statistical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context.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x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often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used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independent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equation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125"/>
              </a:spcBef>
              <a:buClr>
                <a:srgbClr val="3C5480"/>
              </a:buClr>
              <a:buFont typeface="Wingdings"/>
              <a:buChar char=""/>
            </a:pP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Dependent</a:t>
            </a:r>
            <a:r>
              <a:rPr sz="2000" b="1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1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quantity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whose value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depends</a:t>
            </a:r>
            <a:r>
              <a:rPr sz="2000" i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independent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manipulated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Represents</a:t>
            </a:r>
            <a:r>
              <a:rPr sz="20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output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often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used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independent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equation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6044" y="4901184"/>
            <a:ext cx="6254496" cy="101498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202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u="sng" spc="-1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9" y="1102588"/>
            <a:ext cx="11325860" cy="12299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  <a:r>
              <a:rPr sz="20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strength</a:t>
            </a:r>
            <a:r>
              <a:rPr sz="20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spc="-3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two or more </a:t>
            </a:r>
            <a:r>
              <a:rPr sz="20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scaled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dimensionless: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coefficient</a:t>
            </a:r>
            <a:r>
              <a:rPr sz="20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always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pure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value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measured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units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759" y="3882313"/>
            <a:ext cx="6511925" cy="236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420"/>
              </a:spcBef>
              <a:buClr>
                <a:srgbClr val="3C5480"/>
              </a:buClr>
              <a:buFont typeface="Wingdings"/>
              <a:buChar char=""/>
              <a:tabLst>
                <a:tab pos="266065" algn="l"/>
              </a:tabLst>
            </a:pP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Where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23265" lvl="1" indent="-227965">
              <a:lnSpc>
                <a:spcPct val="100000"/>
              </a:lnSpc>
              <a:spcBef>
                <a:spcPts val="280"/>
              </a:spcBef>
              <a:buClr>
                <a:srgbClr val="3C5480"/>
              </a:buClr>
              <a:buFont typeface="Wingdings"/>
              <a:buChar char=""/>
              <a:tabLst>
                <a:tab pos="7232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ρ(X,Y)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000"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X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232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7232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cov(X,Y)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20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r>
              <a:rPr sz="20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000" spc="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X</a:t>
            </a:r>
            <a:r>
              <a:rPr sz="20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5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232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7232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σ</a:t>
            </a:r>
            <a:r>
              <a:rPr sz="2000" baseline="-20833" dirty="0">
                <a:latin typeface="Helvetica" panose="020B0604020202020204" pitchFamily="34" charset="0"/>
                <a:cs typeface="Helvetica" panose="020B0604020202020204" pitchFamily="34" charset="0"/>
              </a:rPr>
              <a:t>X</a:t>
            </a:r>
            <a:r>
              <a:rPr sz="2000" spc="-30" baseline="-2083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standard</a:t>
            </a:r>
            <a:r>
              <a:rPr sz="2000" spc="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deviation</a:t>
            </a:r>
            <a:r>
              <a:rPr sz="20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X-variable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23265" lvl="1" indent="-227965">
              <a:lnSpc>
                <a:spcPct val="100000"/>
              </a:lnSpc>
              <a:spcBef>
                <a:spcPts val="275"/>
              </a:spcBef>
              <a:buClr>
                <a:srgbClr val="3C5480"/>
              </a:buClr>
              <a:buFont typeface="Wingdings"/>
              <a:buChar char=""/>
              <a:tabLst>
                <a:tab pos="723265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σ</a:t>
            </a:r>
            <a:r>
              <a:rPr sz="2000" baseline="-20833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-44" baseline="-2083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–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standard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deviation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90" dirty="0">
                <a:latin typeface="Helvetica" panose="020B0604020202020204" pitchFamily="34" charset="0"/>
                <a:cs typeface="Helvetica" panose="020B0604020202020204" pitchFamily="34" charset="0"/>
              </a:rPr>
              <a:t>Y-</a:t>
            </a:r>
            <a:r>
              <a:rPr sz="20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55522" y="2747517"/>
            <a:ext cx="2585720" cy="1070610"/>
            <a:chOff x="1255522" y="2747517"/>
            <a:chExt cx="2585720" cy="1070610"/>
          </a:xfrm>
        </p:grpSpPr>
        <p:sp>
          <p:nvSpPr>
            <p:cNvPr id="13" name="object 13"/>
            <p:cNvSpPr/>
            <p:nvPr/>
          </p:nvSpPr>
          <p:spPr>
            <a:xfrm>
              <a:off x="1261872" y="2753867"/>
              <a:ext cx="2573020" cy="1057910"/>
            </a:xfrm>
            <a:custGeom>
              <a:avLst/>
              <a:gdLst/>
              <a:ahLst/>
              <a:cxnLst/>
              <a:rect l="l" t="t" r="r" b="b"/>
              <a:pathLst>
                <a:path w="2573020" h="1057910">
                  <a:moveTo>
                    <a:pt x="2572512" y="0"/>
                  </a:moveTo>
                  <a:lnTo>
                    <a:pt x="0" y="0"/>
                  </a:lnTo>
                  <a:lnTo>
                    <a:pt x="0" y="1057655"/>
                  </a:lnTo>
                  <a:lnTo>
                    <a:pt x="2572512" y="1057655"/>
                  </a:lnTo>
                  <a:lnTo>
                    <a:pt x="25725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1872" y="2753867"/>
              <a:ext cx="2573020" cy="1057910"/>
            </a:xfrm>
            <a:custGeom>
              <a:avLst/>
              <a:gdLst/>
              <a:ahLst/>
              <a:cxnLst/>
              <a:rect l="l" t="t" r="r" b="b"/>
              <a:pathLst>
                <a:path w="2573020" h="1057910">
                  <a:moveTo>
                    <a:pt x="0" y="1057655"/>
                  </a:moveTo>
                  <a:lnTo>
                    <a:pt x="2572512" y="1057655"/>
                  </a:lnTo>
                  <a:lnTo>
                    <a:pt x="2572512" y="0"/>
                  </a:lnTo>
                  <a:lnTo>
                    <a:pt x="0" y="0"/>
                  </a:lnTo>
                  <a:lnTo>
                    <a:pt x="0" y="105765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81352" y="3179317"/>
              <a:ext cx="532130" cy="212090"/>
            </a:xfrm>
            <a:custGeom>
              <a:avLst/>
              <a:gdLst/>
              <a:ahLst/>
              <a:cxnLst/>
              <a:rect l="l" t="t" r="r" b="b"/>
              <a:pathLst>
                <a:path w="532130" h="212089">
                  <a:moveTo>
                    <a:pt x="464185" y="0"/>
                  </a:moveTo>
                  <a:lnTo>
                    <a:pt x="461137" y="8636"/>
                  </a:lnTo>
                  <a:lnTo>
                    <a:pt x="473404" y="13946"/>
                  </a:lnTo>
                  <a:lnTo>
                    <a:pt x="483933" y="21304"/>
                  </a:lnTo>
                  <a:lnTo>
                    <a:pt x="505372" y="55449"/>
                  </a:lnTo>
                  <a:lnTo>
                    <a:pt x="512445" y="104902"/>
                  </a:lnTo>
                  <a:lnTo>
                    <a:pt x="511659" y="123571"/>
                  </a:lnTo>
                  <a:lnTo>
                    <a:pt x="499872" y="169291"/>
                  </a:lnTo>
                  <a:lnTo>
                    <a:pt x="473565" y="197865"/>
                  </a:lnTo>
                  <a:lnTo>
                    <a:pt x="461518" y="203200"/>
                  </a:lnTo>
                  <a:lnTo>
                    <a:pt x="464185" y="211836"/>
                  </a:lnTo>
                  <a:lnTo>
                    <a:pt x="504600" y="187725"/>
                  </a:lnTo>
                  <a:lnTo>
                    <a:pt x="527367" y="143398"/>
                  </a:lnTo>
                  <a:lnTo>
                    <a:pt x="531749" y="106045"/>
                  </a:lnTo>
                  <a:lnTo>
                    <a:pt x="530667" y="86830"/>
                  </a:lnTo>
                  <a:lnTo>
                    <a:pt x="514223" y="37211"/>
                  </a:lnTo>
                  <a:lnTo>
                    <a:pt x="479522" y="5599"/>
                  </a:lnTo>
                  <a:lnTo>
                    <a:pt x="464185" y="0"/>
                  </a:lnTo>
                  <a:close/>
                </a:path>
                <a:path w="532130" h="212089">
                  <a:moveTo>
                    <a:pt x="67564" y="0"/>
                  </a:moveTo>
                  <a:lnTo>
                    <a:pt x="2711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986" y="123571"/>
                  </a:lnTo>
                  <a:lnTo>
                    <a:pt x="17399" y="174752"/>
                  </a:lnTo>
                  <a:lnTo>
                    <a:pt x="52135" y="206291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30" y="197865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52" y="106045"/>
                  </a:lnTo>
                  <a:lnTo>
                    <a:pt x="19304" y="104902"/>
                  </a:lnTo>
                  <a:lnTo>
                    <a:pt x="26376" y="55449"/>
                  </a:lnTo>
                  <a:lnTo>
                    <a:pt x="47799" y="21304"/>
                  </a:lnTo>
                  <a:lnTo>
                    <a:pt x="70485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30350" y="3108782"/>
            <a:ext cx="951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67715" algn="l"/>
              </a:tabLst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𝜌</a:t>
            </a:r>
            <a:r>
              <a:rPr sz="1800" spc="39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𝑋,</a:t>
            </a:r>
            <a:r>
              <a:rPr sz="1800" spc="-8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𝑌</a:t>
            </a: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83307" y="3276600"/>
            <a:ext cx="931544" cy="15240"/>
          </a:xfrm>
          <a:custGeom>
            <a:avLst/>
            <a:gdLst/>
            <a:ahLst/>
            <a:cxnLst/>
            <a:rect l="l" t="t" r="r" b="b"/>
            <a:pathLst>
              <a:path w="931545" h="15239">
                <a:moveTo>
                  <a:pt x="931164" y="0"/>
                </a:moveTo>
                <a:lnTo>
                  <a:pt x="0" y="0"/>
                </a:lnTo>
                <a:lnTo>
                  <a:pt x="0" y="15239"/>
                </a:lnTo>
                <a:lnTo>
                  <a:pt x="931164" y="15239"/>
                </a:lnTo>
                <a:lnTo>
                  <a:pt x="9311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83433" y="2935351"/>
            <a:ext cx="943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𝑐𝑜𝑣(𝑋,</a:t>
            </a:r>
            <a:r>
              <a:rPr sz="1800" spc="-2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mbria Math"/>
                <a:cs typeface="Cambria Math"/>
              </a:rPr>
              <a:t>𝑌)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5463" y="3261182"/>
            <a:ext cx="378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 Math"/>
                <a:cs typeface="Cambria Math"/>
              </a:rPr>
              <a:t>𝜎</a:t>
            </a:r>
            <a:r>
              <a:rPr sz="1800" spc="37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mbria Math"/>
                <a:cs typeface="Cambria Math"/>
              </a:rPr>
              <a:t>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34335" y="3369944"/>
            <a:ext cx="3492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229870" algn="l"/>
              </a:tabLst>
            </a:pPr>
            <a:r>
              <a:rPr sz="1300" spc="35" dirty="0">
                <a:solidFill>
                  <a:srgbClr val="FFFFFF"/>
                </a:solidFill>
                <a:latin typeface="Cambria Math"/>
                <a:cs typeface="Cambria Math"/>
              </a:rPr>
              <a:t>𝑥</a:t>
            </a:r>
            <a:r>
              <a:rPr sz="13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300" spc="45" dirty="0">
                <a:solidFill>
                  <a:srgbClr val="FFFFFF"/>
                </a:solidFill>
                <a:latin typeface="Cambria Math"/>
                <a:cs typeface="Cambria Math"/>
              </a:rPr>
              <a:t>𝑦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9370" y="2864736"/>
            <a:ext cx="4370703" cy="310901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005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14400"/>
            <a:ext cx="11811000" cy="295465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Even a high degree of correlation does not necessarily mean that the relationship of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cause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and effect exists between the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variables.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explanation of significant degree of correlation may be one or both of the following-</a:t>
            </a:r>
          </a:p>
          <a:p>
            <a:pPr lvl="2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▪ The correlation may be due to pure chance, especially in a small sample-</a:t>
            </a:r>
          </a:p>
          <a:p>
            <a:pPr lvl="2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▪ Both the correlated variables may be influenced by one or more other variables</a:t>
            </a:r>
          </a:p>
          <a:p>
            <a:pPr lvl="2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▪ Both the correlated variables are mutually influencing each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other.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u="sng" spc="-1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8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3200" u="sng" spc="-7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coefficient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745" y="1009947"/>
            <a:ext cx="11763655" cy="498213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Following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ways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calculate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coefficient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Karl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Pearson’s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coefficient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Spearman’s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Rank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Scatter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diagram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Coefficient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concurrent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duration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1125"/>
              </a:spcBef>
              <a:buClr>
                <a:srgbClr val="3C5480"/>
              </a:buClr>
              <a:buFont typeface="Wingdings"/>
              <a:buChar char=""/>
            </a:pP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200" spc="-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(r</a:t>
            </a:r>
            <a:r>
              <a:rPr sz="22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n-US" sz="22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200" spc="-25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spc="-25" dirty="0" err="1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corr</a:t>
            </a:r>
            <a:r>
              <a:rPr lang="en-US" sz="2200" spc="-25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(x , y) = </a:t>
            </a:r>
            <a:r>
              <a:rPr lang="en-US" sz="2200" spc="-25" dirty="0" err="1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corr</a:t>
            </a:r>
            <a:r>
              <a:rPr lang="en-US" sz="2200" spc="-25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(y , x)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 coefficient of correlation lies between -1 and +1, symbolically </a:t>
            </a:r>
            <a:r>
              <a:rPr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&lt;=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&lt;=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=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(perfect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correlation)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=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(perfect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negative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&gt;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0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(positive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correlation)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90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&lt;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0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(negative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correlation)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5"/>
              </a:spcBef>
              <a:buClr>
                <a:srgbClr val="3C5480"/>
              </a:buClr>
              <a:buFont typeface="Wingdings"/>
              <a:buChar char=""/>
              <a:tabLst>
                <a:tab pos="6978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=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0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(no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9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91071"/>
            <a:ext cx="12204700" cy="573405"/>
            <a:chOff x="-6095" y="6291071"/>
            <a:chExt cx="12204700" cy="573405"/>
          </a:xfrm>
        </p:grpSpPr>
        <p:sp>
          <p:nvSpPr>
            <p:cNvPr id="3" name="object 3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12192000" y="0"/>
                  </a:moveTo>
                  <a:lnTo>
                    <a:pt x="0" y="0"/>
                  </a:lnTo>
                  <a:lnTo>
                    <a:pt x="0" y="560832"/>
                  </a:lnTo>
                  <a:lnTo>
                    <a:pt x="12192000" y="560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C5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97167"/>
              <a:ext cx="12192000" cy="561340"/>
            </a:xfrm>
            <a:custGeom>
              <a:avLst/>
              <a:gdLst/>
              <a:ahLst/>
              <a:cxnLst/>
              <a:rect l="l" t="t" r="r" b="b"/>
              <a:pathLst>
                <a:path w="12192000" h="561340">
                  <a:moveTo>
                    <a:pt x="0" y="560832"/>
                  </a:moveTo>
                  <a:lnTo>
                    <a:pt x="12192000" y="560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0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" y="6320026"/>
              <a:ext cx="484631" cy="48463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918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sz="32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r>
              <a:rPr sz="3200" u="sng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latin typeface="Helvetica" panose="020B0604020202020204" pitchFamily="34" charset="0"/>
                <a:cs typeface="Helvetica" panose="020B0604020202020204" pitchFamily="34" charset="0"/>
              </a:rPr>
              <a:t>vs</a:t>
            </a:r>
            <a:r>
              <a:rPr sz="3200" u="sng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37226" y="6471158"/>
            <a:ext cx="1716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Sunbeam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30967" y="6490013"/>
            <a:ext cx="15900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www.sunbeaminfo.com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58" y="1102588"/>
            <a:ext cx="11648441" cy="3423373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0665" indent="-227965">
              <a:spcBef>
                <a:spcPts val="855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primarily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indent="-227965">
              <a:spcBef>
                <a:spcPts val="755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closest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analogy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variance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lang="en-US" sz="24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standard</a:t>
            </a:r>
            <a:r>
              <a:rPr sz="2400" spc="-7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deviation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marR="194310" indent="-228600">
              <a:spcBef>
                <a:spcPts val="104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total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variation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random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their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while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strength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variables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40665" marR="5080" indent="-228600">
              <a:spcBef>
                <a:spcPts val="1000"/>
              </a:spcBef>
              <a:buClr>
                <a:srgbClr val="3C5480"/>
              </a:buClr>
              <a:buFont typeface="Wingdings"/>
              <a:buChar char=""/>
              <a:tabLst>
                <a:tab pos="2406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covariance,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can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gauge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direction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while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scaled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6025" y="2751531"/>
            <a:ext cx="72193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6000" u="sng" spc="-4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60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6000" u="sng" spc="-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60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6000" u="sng" spc="-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60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Process</a:t>
            </a:r>
            <a:endParaRPr sz="6000" u="sng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03" y="80517"/>
            <a:ext cx="12016740" cy="5382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Steps</a:t>
            </a:r>
            <a:endParaRPr sz="2800" u="sng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Look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at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big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picture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Get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lang="en-US" sz="24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sz="2400" spc="-20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collect/organize data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Discover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visualize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gain</a:t>
            </a:r>
            <a:r>
              <a:rPr sz="24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insights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Exploratory</a:t>
            </a:r>
            <a:r>
              <a:rPr sz="2400" b="1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b="1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sz="2400" b="1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24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EDA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Prepare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Machine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algorithms</a:t>
            </a:r>
            <a:r>
              <a:rPr lang="en-US"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400" spc="-10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data cleansing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Select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train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n-US" sz="24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400" spc="-25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by trial and error method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Fine-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tune your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Present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solution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08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Launch,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monitor,</a:t>
            </a:r>
            <a:r>
              <a:rPr sz="24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maintain</a:t>
            </a:r>
            <a:r>
              <a:rPr sz="24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400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Look</a:t>
            </a:r>
            <a:r>
              <a:rPr sz="3200" u="sng" spc="-3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</a:t>
            </a:r>
            <a:r>
              <a:rPr sz="3200" u="sng" spc="-4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3200" u="sng" spc="-4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</a:t>
            </a:r>
            <a:r>
              <a:rPr sz="3200" u="sng" spc="-3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838200"/>
            <a:ext cx="11810999" cy="54303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Frame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Problem</a:t>
            </a:r>
            <a:r>
              <a:rPr lang="en-US"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(Domain Knowledge)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1349375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question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ask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boss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exactly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business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is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Building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probably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goal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does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company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expect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benefit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model?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Knowing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objective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important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because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determine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marR="5286375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frame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problem </a:t>
            </a:r>
            <a:endParaRPr lang="en-US" sz="2200" spc="-1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marR="5286375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spc="-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which algorithm 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select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marR="186436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evaluate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model </a:t>
            </a:r>
            <a:endParaRPr lang="en-US" sz="2200" spc="-1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marR="186436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how 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sz="22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effort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spend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tweaking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endParaRPr lang="en-US" sz="2200" spc="-25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marR="186436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Select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next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step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select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508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typical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measure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regression</a:t>
            </a:r>
            <a:r>
              <a:rPr sz="22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problems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Root</a:t>
            </a:r>
            <a:r>
              <a:rPr sz="2200" b="1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Mean</a:t>
            </a:r>
            <a:r>
              <a:rPr sz="22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Square</a:t>
            </a:r>
            <a:r>
              <a:rPr sz="22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(RMSE)</a:t>
            </a:r>
            <a:r>
              <a:rPr sz="22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MAE(Mean</a:t>
            </a:r>
            <a:r>
              <a:rPr sz="22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Absolute</a:t>
            </a:r>
            <a:r>
              <a:rPr sz="2200" b="1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gives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idea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error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typically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makes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predictions,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69900">
              <a:lnSpc>
                <a:spcPct val="100000"/>
              </a:lnSpc>
            </a:pPr>
            <a:r>
              <a:rPr lang="en-US"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sz="2200" spc="-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weight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large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3200" u="sng" spc="-13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814627"/>
            <a:ext cx="11887200" cy="227113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Regression</a:t>
            </a:r>
            <a:endParaRPr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13410" indent="-342900">
              <a:lnSpc>
                <a:spcPct val="100000"/>
              </a:lnSpc>
              <a:spcBef>
                <a:spcPts val="1150"/>
              </a:spcBef>
              <a:buFont typeface="Wingdings" panose="05000000000000000000" pitchFamily="2" charset="2"/>
              <a:buChar char="§"/>
              <a:tabLst>
                <a:tab pos="44259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RMSE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(Root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Mean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Squared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Error)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:square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root</a:t>
            </a:r>
            <a:r>
              <a:rPr sz="2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Mean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Squared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12775" marR="5080" indent="-342900">
              <a:lnSpc>
                <a:spcPts val="1980"/>
              </a:lnSpc>
              <a:spcBef>
                <a:spcPts val="470"/>
              </a:spcBef>
              <a:buFont typeface="Wingdings" panose="05000000000000000000" pitchFamily="2" charset="2"/>
              <a:buChar char="§"/>
              <a:tabLst>
                <a:tab pos="44259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MAE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(Mean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Absolute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Error)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sz="2200" spc="-7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absolute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difference</a:t>
            </a:r>
            <a:r>
              <a:rPr sz="2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actual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predicted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dataset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13410" indent="-342900">
              <a:lnSpc>
                <a:spcPct val="100000"/>
              </a:lnSpc>
              <a:spcBef>
                <a:spcPts val="215"/>
              </a:spcBef>
              <a:buFont typeface="Wingdings" panose="05000000000000000000" pitchFamily="2" charset="2"/>
              <a:buChar char="§"/>
              <a:tabLst>
                <a:tab pos="44259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MSE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:the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sz="22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squared</a:t>
            </a:r>
            <a:r>
              <a:rPr sz="2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difference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original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predicted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set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443" y="3641770"/>
            <a:ext cx="2408712" cy="9956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400" y="3590970"/>
            <a:ext cx="2506958" cy="10622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05200" y="4800601"/>
            <a:ext cx="3052323" cy="8907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 rotWithShape="1">
          <a:blip r:embed="rId5" cstate="print"/>
          <a:srcRect t="13782"/>
          <a:stretch/>
        </p:blipFill>
        <p:spPr>
          <a:xfrm>
            <a:off x="416560" y="3386388"/>
            <a:ext cx="3399318" cy="14000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600" y="5887008"/>
            <a:ext cx="1196340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b="1" spc="-3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sz="2200" b="1" spc="-4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value</a:t>
            </a:r>
            <a:r>
              <a:rPr sz="2200" b="1" spc="1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b="1" spc="-1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MAE,</a:t>
            </a:r>
            <a:r>
              <a:rPr sz="2200" b="1" spc="3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MSE,</a:t>
            </a:r>
            <a:r>
              <a:rPr sz="2200" b="1" spc="-2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b="1" spc="-1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RMSE</a:t>
            </a:r>
            <a:r>
              <a:rPr sz="2200" b="1" spc="-2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implies</a:t>
            </a:r>
            <a:r>
              <a:rPr sz="2200" b="1" spc="-25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sz="2200" b="1" spc="-3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accuracy</a:t>
            </a:r>
            <a:r>
              <a:rPr sz="2200" b="1" spc="-2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b="1" spc="-1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b="1" spc="-2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regression</a:t>
            </a:r>
            <a:r>
              <a:rPr sz="2200" b="1" spc="-10" dirty="0">
                <a:solidFill>
                  <a:srgbClr val="0000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model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3200" u="sng" spc="-13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20" y="762000"/>
            <a:ext cx="11879580" cy="18178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Classification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06424" indent="-342900">
              <a:lnSpc>
                <a:spcPct val="100000"/>
              </a:lnSpc>
              <a:spcBef>
                <a:spcPts val="560"/>
              </a:spcBef>
              <a:buFont typeface="Wingdings" panose="05000000000000000000" pitchFamily="2" charset="2"/>
              <a:buChar char="§"/>
              <a:tabLst>
                <a:tab pos="435609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Accuracy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Score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measures</a:t>
            </a:r>
            <a:r>
              <a:rPr sz="22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often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classifier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correctly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predicts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06424" indent="-342900">
              <a:lnSpc>
                <a:spcPct val="100000"/>
              </a:lnSpc>
              <a:spcBef>
                <a:spcPts val="254"/>
              </a:spcBef>
              <a:buFont typeface="Wingdings" panose="05000000000000000000" pitchFamily="2" charset="2"/>
              <a:buChar char="§"/>
              <a:tabLst>
                <a:tab pos="435609" algn="l"/>
              </a:tabLst>
            </a:pP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F1-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Score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harmonic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mean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precision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recall.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05789" marR="5080" indent="-342900">
              <a:lnSpc>
                <a:spcPts val="1980"/>
              </a:lnSpc>
              <a:spcBef>
                <a:spcPts val="470"/>
              </a:spcBef>
              <a:buFont typeface="Wingdings" panose="05000000000000000000" pitchFamily="2" charset="2"/>
              <a:buChar char="§"/>
              <a:tabLst>
                <a:tab pos="435609" algn="l"/>
              </a:tabLst>
            </a:pP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Confusion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Matrix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:It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matrix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2×2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binary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classification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actual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one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axis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predicted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on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another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" y="2586227"/>
            <a:ext cx="3909060" cy="5867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463" y="4321670"/>
            <a:ext cx="3716738" cy="5551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324" y="5361099"/>
            <a:ext cx="3581738" cy="4630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188" y="3436684"/>
            <a:ext cx="3835164" cy="551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9880" y="3028782"/>
            <a:ext cx="5166387" cy="26816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Get</a:t>
            </a:r>
            <a:r>
              <a:rPr sz="3200" u="sng" spc="-4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3200" u="sng" spc="-3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2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679" y="822960"/>
            <a:ext cx="11729721" cy="30604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Decide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source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file /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database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online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/api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Download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make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available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Take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Quick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Look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at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Structure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Understand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set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(numeric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textual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categorical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etc)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understand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>
              <a:lnSpc>
                <a:spcPct val="100000"/>
              </a:lnSpc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columns</a:t>
            </a:r>
            <a:r>
              <a:rPr sz="2200" spc="-3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/variables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Evaluate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decide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one(s)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needed</a:t>
            </a:r>
            <a:r>
              <a:rPr lang="en-US"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(dependent/independent</a:t>
            </a:r>
            <a:r>
              <a:rPr lang="en-US" sz="2200" spc="-10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correlation analysis)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Create</a:t>
            </a:r>
            <a:r>
              <a:rPr sz="2200" b="1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Test</a:t>
            </a:r>
            <a:r>
              <a:rPr sz="2200" b="1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25" dirty="0">
                <a:latin typeface="Helvetica" panose="020B0604020202020204" pitchFamily="34" charset="0"/>
                <a:cs typeface="Helvetica" panose="020B0604020202020204" pitchFamily="34" charset="0"/>
              </a:rPr>
              <a:t>Set</a:t>
            </a:r>
            <a:endParaRPr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Keep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some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records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aside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testing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validation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207" y="2895600"/>
            <a:ext cx="4698673" cy="32973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2" y="121919"/>
            <a:ext cx="1003909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Discover</a:t>
            </a:r>
            <a:r>
              <a:rPr sz="3200" u="sng" spc="-5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3200" u="sng" spc="-6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Visualize</a:t>
            </a:r>
            <a:r>
              <a:rPr sz="3200" u="sng" spc="-7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3200" u="sng" spc="-6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3200" u="sng" spc="-5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3200" u="sng" spc="-5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Gain</a:t>
            </a:r>
            <a:r>
              <a:rPr sz="3200" u="sng" spc="-6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838200"/>
            <a:ext cx="11658599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Visualize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libraries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like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matplotlib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seaborn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Understand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pattern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Look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correlation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Experiment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attribute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combinations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2" y="80517"/>
            <a:ext cx="103438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Prepare</a:t>
            </a:r>
            <a:r>
              <a:rPr sz="3200" u="sng" spc="-8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3200" u="sng" spc="-6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3200" u="sng" spc="-6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3200" u="sng" spc="-7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Machine</a:t>
            </a:r>
            <a:r>
              <a:rPr sz="3200" u="sng" spc="-5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r>
              <a:rPr sz="3200" u="sng" spc="-6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0375" y="831341"/>
            <a:ext cx="1167922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Cleaning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Process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cleaning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set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prepare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algorithm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Steps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lvl="2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12700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Check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missing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lang="en-US" sz="2400" spc="-2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(NA values)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lvl="2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12700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Check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wrong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types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lvl="2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12700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Add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needed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lvl="2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12700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Remove</a:t>
            </a:r>
            <a:r>
              <a:rPr sz="2400" spc="-10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unwanted</a:t>
            </a:r>
            <a:r>
              <a:rPr sz="2400" spc="-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Feature</a:t>
            </a:r>
            <a:r>
              <a:rPr sz="2400" spc="-8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Scaling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151765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algorithms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don’t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perform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well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numerical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attributes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very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bring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single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Handle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categorical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text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508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transformers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convert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categorical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numerical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(eg.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Label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encoding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ordinal </a:t>
            </a:r>
            <a:r>
              <a:rPr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encoding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one-hot encoding </a:t>
            </a:r>
            <a:r>
              <a:rPr sz="2400" spc="-2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etc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Select</a:t>
            </a:r>
            <a:r>
              <a:rPr sz="3200" u="sng" spc="-5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3200" u="sng" spc="-4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Train</a:t>
            </a:r>
            <a:r>
              <a:rPr sz="3200" u="sng" spc="-3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3200" u="sng" spc="-6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838200"/>
            <a:ext cx="121158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Training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train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set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Create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selected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algorithm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Save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future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Evaluation</a:t>
            </a:r>
            <a:r>
              <a:rPr sz="2400" spc="-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Evaluate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there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chance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improve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accuracy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Techniques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00" lvl="2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12700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Cross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Validation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spc="-2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Fine-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Tune</a:t>
            </a:r>
            <a:r>
              <a:rPr sz="3200" u="sng" spc="-2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3200" u="sng" spc="-5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853440"/>
            <a:ext cx="11887200" cy="54303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Grid</a:t>
            </a:r>
            <a:r>
              <a:rPr sz="22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endParaRPr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option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would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fiddle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hyperparameters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manually,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until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great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combination</a:t>
            </a:r>
            <a:r>
              <a:rPr lang="en-US"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55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hyper parameter</a:t>
            </a:r>
            <a:r>
              <a:rPr sz="2200" spc="-5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n-US" sz="22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(configuration of algorithms)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would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tedious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work,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explore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many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combinations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can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also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automate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process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libraries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like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sci-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kit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Randomized</a:t>
            </a:r>
            <a:r>
              <a:rPr sz="2200" b="1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endParaRPr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grid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approach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fine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are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exploring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relatively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few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combinations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hyperparameter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space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large,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often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preferable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use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randomized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search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Ensemble</a:t>
            </a:r>
            <a:r>
              <a:rPr sz="2200" b="1"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b="1" spc="-10" dirty="0">
                <a:latin typeface="Helvetica" panose="020B0604020202020204" pitchFamily="34" charset="0"/>
                <a:cs typeface="Helvetica" panose="020B0604020202020204" pitchFamily="34" charset="0"/>
              </a:rPr>
              <a:t>Methods</a:t>
            </a:r>
            <a:endParaRPr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1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Another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way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fine-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tune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try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combine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models</a:t>
            </a:r>
            <a:r>
              <a:rPr sz="22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163830" lvl="1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group</a:t>
            </a:r>
            <a:r>
              <a:rPr sz="22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(or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“ensemble”)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often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perform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individual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model,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especially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individual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make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types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22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errors.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Analyse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sz="22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Models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Their</a:t>
            </a:r>
            <a:r>
              <a:rPr sz="22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spc="-10" dirty="0">
                <a:latin typeface="Helvetica" panose="020B0604020202020204" pitchFamily="34" charset="0"/>
                <a:cs typeface="Helvetica" panose="020B0604020202020204" pitchFamily="34" charset="0"/>
              </a:rPr>
              <a:t>Errors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Evaluate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22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2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200" dirty="0">
                <a:latin typeface="Helvetica" panose="020B0604020202020204" pitchFamily="34" charset="0"/>
                <a:cs typeface="Helvetica" panose="020B0604020202020204" pitchFamily="34" charset="0"/>
              </a:rPr>
              <a:t>Test</a:t>
            </a:r>
            <a:r>
              <a:rPr sz="2200" spc="-25" dirty="0">
                <a:latin typeface="Helvetica" panose="020B0604020202020204" pitchFamily="34" charset="0"/>
                <a:cs typeface="Helvetica" panose="020B0604020202020204" pitchFamily="34" charset="0"/>
              </a:rPr>
              <a:t> Set</a:t>
            </a:r>
            <a:endParaRPr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Launch,</a:t>
            </a:r>
            <a:r>
              <a:rPr sz="3200" u="sng" spc="-7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Monitor,</a:t>
            </a:r>
            <a:r>
              <a:rPr sz="3200" u="sng" spc="-6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3200" u="sng" spc="-8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Maintain</a:t>
            </a:r>
            <a:r>
              <a:rPr sz="3200" u="sng" spc="-75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3200" u="sng" spc="-9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03" y="914400"/>
            <a:ext cx="11867897" cy="40761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Deploy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application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users</a:t>
            </a:r>
            <a:r>
              <a:rPr lang="en-US"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400" spc="-10" dirty="0" smtClean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production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Monitor</a:t>
            </a:r>
            <a:r>
              <a:rPr sz="2400" spc="-6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application’s</a:t>
            </a:r>
            <a:r>
              <a:rPr sz="2400" spc="-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keeps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evolving,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update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datasets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retrain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regularly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probably</a:t>
            </a:r>
            <a:r>
              <a:rPr sz="2400" spc="-5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automate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whole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process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as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as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possible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lvl="1" indent="-342900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09625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Collect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fresh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regularly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label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165" marR="5080" lvl="1" indent="-342900" algn="just">
              <a:lnSpc>
                <a:spcPct val="100000"/>
              </a:lnSpc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Write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script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train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fine-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tune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hyperparameters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automatically.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This 	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script could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run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 automatically,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example</a:t>
            </a:r>
            <a:r>
              <a:rPr sz="2400" spc="-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every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day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every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week,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depending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your </a:t>
            </a:r>
            <a:r>
              <a:rPr sz="2400" spc="-1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needs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12800" marR="146685" lvl="1" indent="-343535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812800" algn="l"/>
              </a:tabLst>
            </a:pP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Write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another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script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evaluate</a:t>
            </a:r>
            <a:r>
              <a:rPr sz="2400" spc="-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new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previous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on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updated</a:t>
            </a:r>
            <a:r>
              <a:rPr sz="2400" spc="-4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test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set,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deploy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production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has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not </a:t>
            </a:r>
            <a:r>
              <a:rPr sz="2400" spc="-10" dirty="0"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(if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did,</a:t>
            </a:r>
            <a:r>
              <a:rPr sz="2400" spc="-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make</a:t>
            </a:r>
            <a:r>
              <a:rPr sz="2400" spc="-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sure</a:t>
            </a:r>
            <a:r>
              <a:rPr sz="2400" spc="-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sz="2400" spc="-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400" dirty="0">
                <a:latin typeface="Helvetica" panose="020B0604020202020204" pitchFamily="34" charset="0"/>
                <a:cs typeface="Helvetica" panose="020B0604020202020204" pitchFamily="34" charset="0"/>
              </a:rPr>
              <a:t>investigate</a:t>
            </a:r>
            <a:r>
              <a:rPr sz="2400" spc="-20" dirty="0">
                <a:latin typeface="Helvetica" panose="020B0604020202020204" pitchFamily="34" charset="0"/>
                <a:cs typeface="Helvetica" panose="020B0604020202020204" pitchFamily="34" charset="0"/>
              </a:rPr>
              <a:t> why)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80517"/>
            <a:ext cx="85255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u="sng" spc="-1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Summary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3648" y="1471941"/>
            <a:ext cx="10854055" cy="2996565"/>
            <a:chOff x="743648" y="1471941"/>
            <a:chExt cx="10854055" cy="2996565"/>
          </a:xfrm>
        </p:grpSpPr>
        <p:sp>
          <p:nvSpPr>
            <p:cNvPr id="4" name="object 4"/>
            <p:cNvSpPr/>
            <p:nvPr/>
          </p:nvSpPr>
          <p:spPr>
            <a:xfrm>
              <a:off x="756666" y="2623566"/>
              <a:ext cx="10828020" cy="1831975"/>
            </a:xfrm>
            <a:custGeom>
              <a:avLst/>
              <a:gdLst/>
              <a:ahLst/>
              <a:cxnLst/>
              <a:rect l="l" t="t" r="r" b="b"/>
              <a:pathLst>
                <a:path w="10828020" h="1831975">
                  <a:moveTo>
                    <a:pt x="9912095" y="0"/>
                  </a:moveTo>
                  <a:lnTo>
                    <a:pt x="915923" y="0"/>
                  </a:lnTo>
                  <a:lnTo>
                    <a:pt x="867279" y="1269"/>
                  </a:lnTo>
                  <a:lnTo>
                    <a:pt x="819297" y="5036"/>
                  </a:lnTo>
                  <a:lnTo>
                    <a:pt x="772039" y="11236"/>
                  </a:lnTo>
                  <a:lnTo>
                    <a:pt x="725569" y="19807"/>
                  </a:lnTo>
                  <a:lnTo>
                    <a:pt x="679950" y="30685"/>
                  </a:lnTo>
                  <a:lnTo>
                    <a:pt x="635245" y="43807"/>
                  </a:lnTo>
                  <a:lnTo>
                    <a:pt x="591519" y="59109"/>
                  </a:lnTo>
                  <a:lnTo>
                    <a:pt x="548833" y="76529"/>
                  </a:lnTo>
                  <a:lnTo>
                    <a:pt x="507252" y="96002"/>
                  </a:lnTo>
                  <a:lnTo>
                    <a:pt x="466839" y="117466"/>
                  </a:lnTo>
                  <a:lnTo>
                    <a:pt x="427656" y="140857"/>
                  </a:lnTo>
                  <a:lnTo>
                    <a:pt x="389768" y="166113"/>
                  </a:lnTo>
                  <a:lnTo>
                    <a:pt x="353238" y="193169"/>
                  </a:lnTo>
                  <a:lnTo>
                    <a:pt x="318128" y="221962"/>
                  </a:lnTo>
                  <a:lnTo>
                    <a:pt x="284503" y="252429"/>
                  </a:lnTo>
                  <a:lnTo>
                    <a:pt x="252425" y="284508"/>
                  </a:lnTo>
                  <a:lnTo>
                    <a:pt x="221958" y="318133"/>
                  </a:lnTo>
                  <a:lnTo>
                    <a:pt x="193165" y="353243"/>
                  </a:lnTo>
                  <a:lnTo>
                    <a:pt x="166109" y="389774"/>
                  </a:lnTo>
                  <a:lnTo>
                    <a:pt x="140854" y="427662"/>
                  </a:lnTo>
                  <a:lnTo>
                    <a:pt x="117463" y="466844"/>
                  </a:lnTo>
                  <a:lnTo>
                    <a:pt x="96000" y="507258"/>
                  </a:lnTo>
                  <a:lnTo>
                    <a:pt x="76527" y="548838"/>
                  </a:lnTo>
                  <a:lnTo>
                    <a:pt x="59108" y="591524"/>
                  </a:lnTo>
                  <a:lnTo>
                    <a:pt x="43806" y="635250"/>
                  </a:lnTo>
                  <a:lnTo>
                    <a:pt x="30684" y="679954"/>
                  </a:lnTo>
                  <a:lnTo>
                    <a:pt x="19806" y="725572"/>
                  </a:lnTo>
                  <a:lnTo>
                    <a:pt x="11236" y="772042"/>
                  </a:lnTo>
                  <a:lnTo>
                    <a:pt x="5036" y="819299"/>
                  </a:lnTo>
                  <a:lnTo>
                    <a:pt x="1269" y="867281"/>
                  </a:lnTo>
                  <a:lnTo>
                    <a:pt x="0" y="915924"/>
                  </a:lnTo>
                  <a:lnTo>
                    <a:pt x="1269" y="964566"/>
                  </a:lnTo>
                  <a:lnTo>
                    <a:pt x="5036" y="1012548"/>
                  </a:lnTo>
                  <a:lnTo>
                    <a:pt x="11236" y="1059805"/>
                  </a:lnTo>
                  <a:lnTo>
                    <a:pt x="19806" y="1106275"/>
                  </a:lnTo>
                  <a:lnTo>
                    <a:pt x="30684" y="1151893"/>
                  </a:lnTo>
                  <a:lnTo>
                    <a:pt x="43806" y="1196597"/>
                  </a:lnTo>
                  <a:lnTo>
                    <a:pt x="59108" y="1240323"/>
                  </a:lnTo>
                  <a:lnTo>
                    <a:pt x="76527" y="1283009"/>
                  </a:lnTo>
                  <a:lnTo>
                    <a:pt x="96000" y="1324589"/>
                  </a:lnTo>
                  <a:lnTo>
                    <a:pt x="117463" y="1365003"/>
                  </a:lnTo>
                  <a:lnTo>
                    <a:pt x="140854" y="1404185"/>
                  </a:lnTo>
                  <a:lnTo>
                    <a:pt x="166109" y="1442073"/>
                  </a:lnTo>
                  <a:lnTo>
                    <a:pt x="193165" y="1478604"/>
                  </a:lnTo>
                  <a:lnTo>
                    <a:pt x="221958" y="1513714"/>
                  </a:lnTo>
                  <a:lnTo>
                    <a:pt x="252425" y="1547339"/>
                  </a:lnTo>
                  <a:lnTo>
                    <a:pt x="284503" y="1579418"/>
                  </a:lnTo>
                  <a:lnTo>
                    <a:pt x="318128" y="1609885"/>
                  </a:lnTo>
                  <a:lnTo>
                    <a:pt x="353238" y="1638678"/>
                  </a:lnTo>
                  <a:lnTo>
                    <a:pt x="389768" y="1665734"/>
                  </a:lnTo>
                  <a:lnTo>
                    <a:pt x="427656" y="1690990"/>
                  </a:lnTo>
                  <a:lnTo>
                    <a:pt x="466839" y="1714381"/>
                  </a:lnTo>
                  <a:lnTo>
                    <a:pt x="507252" y="1735845"/>
                  </a:lnTo>
                  <a:lnTo>
                    <a:pt x="548833" y="1755318"/>
                  </a:lnTo>
                  <a:lnTo>
                    <a:pt x="591519" y="1772738"/>
                  </a:lnTo>
                  <a:lnTo>
                    <a:pt x="635245" y="1788040"/>
                  </a:lnTo>
                  <a:lnTo>
                    <a:pt x="679950" y="1801162"/>
                  </a:lnTo>
                  <a:lnTo>
                    <a:pt x="725569" y="1812040"/>
                  </a:lnTo>
                  <a:lnTo>
                    <a:pt x="772039" y="1820611"/>
                  </a:lnTo>
                  <a:lnTo>
                    <a:pt x="819297" y="1826811"/>
                  </a:lnTo>
                  <a:lnTo>
                    <a:pt x="867279" y="1830578"/>
                  </a:lnTo>
                  <a:lnTo>
                    <a:pt x="915923" y="1831848"/>
                  </a:lnTo>
                  <a:lnTo>
                    <a:pt x="9912095" y="1831848"/>
                  </a:lnTo>
                  <a:lnTo>
                    <a:pt x="9960738" y="1830578"/>
                  </a:lnTo>
                  <a:lnTo>
                    <a:pt x="10008720" y="1826811"/>
                  </a:lnTo>
                  <a:lnTo>
                    <a:pt x="10055977" y="1820611"/>
                  </a:lnTo>
                  <a:lnTo>
                    <a:pt x="10102447" y="1812040"/>
                  </a:lnTo>
                  <a:lnTo>
                    <a:pt x="10148065" y="1801162"/>
                  </a:lnTo>
                  <a:lnTo>
                    <a:pt x="10192769" y="1788040"/>
                  </a:lnTo>
                  <a:lnTo>
                    <a:pt x="10236495" y="1772738"/>
                  </a:lnTo>
                  <a:lnTo>
                    <a:pt x="10279181" y="1755318"/>
                  </a:lnTo>
                  <a:lnTo>
                    <a:pt x="10320761" y="1735845"/>
                  </a:lnTo>
                  <a:lnTo>
                    <a:pt x="10361175" y="1714381"/>
                  </a:lnTo>
                  <a:lnTo>
                    <a:pt x="10400357" y="1690990"/>
                  </a:lnTo>
                  <a:lnTo>
                    <a:pt x="10438245" y="1665734"/>
                  </a:lnTo>
                  <a:lnTo>
                    <a:pt x="10474776" y="1638678"/>
                  </a:lnTo>
                  <a:lnTo>
                    <a:pt x="10509886" y="1609885"/>
                  </a:lnTo>
                  <a:lnTo>
                    <a:pt x="10543511" y="1579418"/>
                  </a:lnTo>
                  <a:lnTo>
                    <a:pt x="10575590" y="1547339"/>
                  </a:lnTo>
                  <a:lnTo>
                    <a:pt x="10606057" y="1513714"/>
                  </a:lnTo>
                  <a:lnTo>
                    <a:pt x="10634850" y="1478604"/>
                  </a:lnTo>
                  <a:lnTo>
                    <a:pt x="10661906" y="1442073"/>
                  </a:lnTo>
                  <a:lnTo>
                    <a:pt x="10687162" y="1404185"/>
                  </a:lnTo>
                  <a:lnTo>
                    <a:pt x="10710553" y="1365003"/>
                  </a:lnTo>
                  <a:lnTo>
                    <a:pt x="10732017" y="1324589"/>
                  </a:lnTo>
                  <a:lnTo>
                    <a:pt x="10751490" y="1283009"/>
                  </a:lnTo>
                  <a:lnTo>
                    <a:pt x="10768910" y="1240323"/>
                  </a:lnTo>
                  <a:lnTo>
                    <a:pt x="10784212" y="1196597"/>
                  </a:lnTo>
                  <a:lnTo>
                    <a:pt x="10797334" y="1151893"/>
                  </a:lnTo>
                  <a:lnTo>
                    <a:pt x="10808212" y="1106275"/>
                  </a:lnTo>
                  <a:lnTo>
                    <a:pt x="10816783" y="1059805"/>
                  </a:lnTo>
                  <a:lnTo>
                    <a:pt x="10822983" y="1012548"/>
                  </a:lnTo>
                  <a:lnTo>
                    <a:pt x="10826750" y="964566"/>
                  </a:lnTo>
                  <a:lnTo>
                    <a:pt x="10828019" y="915924"/>
                  </a:lnTo>
                  <a:lnTo>
                    <a:pt x="10826750" y="867281"/>
                  </a:lnTo>
                  <a:lnTo>
                    <a:pt x="10822983" y="819299"/>
                  </a:lnTo>
                  <a:lnTo>
                    <a:pt x="10816783" y="772042"/>
                  </a:lnTo>
                  <a:lnTo>
                    <a:pt x="10808212" y="725572"/>
                  </a:lnTo>
                  <a:lnTo>
                    <a:pt x="10797334" y="679954"/>
                  </a:lnTo>
                  <a:lnTo>
                    <a:pt x="10784212" y="635250"/>
                  </a:lnTo>
                  <a:lnTo>
                    <a:pt x="10768910" y="591524"/>
                  </a:lnTo>
                  <a:lnTo>
                    <a:pt x="10751490" y="548838"/>
                  </a:lnTo>
                  <a:lnTo>
                    <a:pt x="10732017" y="507258"/>
                  </a:lnTo>
                  <a:lnTo>
                    <a:pt x="10710553" y="466844"/>
                  </a:lnTo>
                  <a:lnTo>
                    <a:pt x="10687162" y="427662"/>
                  </a:lnTo>
                  <a:lnTo>
                    <a:pt x="10661906" y="389774"/>
                  </a:lnTo>
                  <a:lnTo>
                    <a:pt x="10634850" y="353243"/>
                  </a:lnTo>
                  <a:lnTo>
                    <a:pt x="10606057" y="318133"/>
                  </a:lnTo>
                  <a:lnTo>
                    <a:pt x="10575590" y="284508"/>
                  </a:lnTo>
                  <a:lnTo>
                    <a:pt x="10543511" y="252429"/>
                  </a:lnTo>
                  <a:lnTo>
                    <a:pt x="10509886" y="221962"/>
                  </a:lnTo>
                  <a:lnTo>
                    <a:pt x="10474776" y="193169"/>
                  </a:lnTo>
                  <a:lnTo>
                    <a:pt x="10438245" y="166113"/>
                  </a:lnTo>
                  <a:lnTo>
                    <a:pt x="10400357" y="140857"/>
                  </a:lnTo>
                  <a:lnTo>
                    <a:pt x="10361175" y="117466"/>
                  </a:lnTo>
                  <a:lnTo>
                    <a:pt x="10320761" y="96002"/>
                  </a:lnTo>
                  <a:lnTo>
                    <a:pt x="10279181" y="76529"/>
                  </a:lnTo>
                  <a:lnTo>
                    <a:pt x="10236495" y="59109"/>
                  </a:lnTo>
                  <a:lnTo>
                    <a:pt x="10192769" y="43807"/>
                  </a:lnTo>
                  <a:lnTo>
                    <a:pt x="10148065" y="30685"/>
                  </a:lnTo>
                  <a:lnTo>
                    <a:pt x="10102447" y="19807"/>
                  </a:lnTo>
                  <a:lnTo>
                    <a:pt x="10055977" y="11236"/>
                  </a:lnTo>
                  <a:lnTo>
                    <a:pt x="10008720" y="5036"/>
                  </a:lnTo>
                  <a:lnTo>
                    <a:pt x="9960738" y="1269"/>
                  </a:lnTo>
                  <a:lnTo>
                    <a:pt x="9912095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  <p:sp>
          <p:nvSpPr>
            <p:cNvPr id="5" name="object 5"/>
            <p:cNvSpPr/>
            <p:nvPr/>
          </p:nvSpPr>
          <p:spPr>
            <a:xfrm>
              <a:off x="756666" y="2623566"/>
              <a:ext cx="10828020" cy="1831975"/>
            </a:xfrm>
            <a:custGeom>
              <a:avLst/>
              <a:gdLst/>
              <a:ahLst/>
              <a:cxnLst/>
              <a:rect l="l" t="t" r="r" b="b"/>
              <a:pathLst>
                <a:path w="10828020" h="1831975">
                  <a:moveTo>
                    <a:pt x="0" y="915924"/>
                  </a:moveTo>
                  <a:lnTo>
                    <a:pt x="1269" y="867281"/>
                  </a:lnTo>
                  <a:lnTo>
                    <a:pt x="5036" y="819299"/>
                  </a:lnTo>
                  <a:lnTo>
                    <a:pt x="11236" y="772042"/>
                  </a:lnTo>
                  <a:lnTo>
                    <a:pt x="19806" y="725572"/>
                  </a:lnTo>
                  <a:lnTo>
                    <a:pt x="30684" y="679954"/>
                  </a:lnTo>
                  <a:lnTo>
                    <a:pt x="43806" y="635250"/>
                  </a:lnTo>
                  <a:lnTo>
                    <a:pt x="59108" y="591524"/>
                  </a:lnTo>
                  <a:lnTo>
                    <a:pt x="76527" y="548838"/>
                  </a:lnTo>
                  <a:lnTo>
                    <a:pt x="96000" y="507258"/>
                  </a:lnTo>
                  <a:lnTo>
                    <a:pt x="117463" y="466844"/>
                  </a:lnTo>
                  <a:lnTo>
                    <a:pt x="140854" y="427662"/>
                  </a:lnTo>
                  <a:lnTo>
                    <a:pt x="166109" y="389774"/>
                  </a:lnTo>
                  <a:lnTo>
                    <a:pt x="193165" y="353243"/>
                  </a:lnTo>
                  <a:lnTo>
                    <a:pt x="221958" y="318133"/>
                  </a:lnTo>
                  <a:lnTo>
                    <a:pt x="252425" y="284508"/>
                  </a:lnTo>
                  <a:lnTo>
                    <a:pt x="284503" y="252429"/>
                  </a:lnTo>
                  <a:lnTo>
                    <a:pt x="318128" y="221962"/>
                  </a:lnTo>
                  <a:lnTo>
                    <a:pt x="353238" y="193169"/>
                  </a:lnTo>
                  <a:lnTo>
                    <a:pt x="389768" y="166113"/>
                  </a:lnTo>
                  <a:lnTo>
                    <a:pt x="427656" y="140857"/>
                  </a:lnTo>
                  <a:lnTo>
                    <a:pt x="466839" y="117466"/>
                  </a:lnTo>
                  <a:lnTo>
                    <a:pt x="507252" y="96002"/>
                  </a:lnTo>
                  <a:lnTo>
                    <a:pt x="548833" y="76529"/>
                  </a:lnTo>
                  <a:lnTo>
                    <a:pt x="591519" y="59109"/>
                  </a:lnTo>
                  <a:lnTo>
                    <a:pt x="635245" y="43807"/>
                  </a:lnTo>
                  <a:lnTo>
                    <a:pt x="679950" y="30685"/>
                  </a:lnTo>
                  <a:lnTo>
                    <a:pt x="725569" y="19807"/>
                  </a:lnTo>
                  <a:lnTo>
                    <a:pt x="772039" y="11236"/>
                  </a:lnTo>
                  <a:lnTo>
                    <a:pt x="819297" y="5036"/>
                  </a:lnTo>
                  <a:lnTo>
                    <a:pt x="867279" y="1269"/>
                  </a:lnTo>
                  <a:lnTo>
                    <a:pt x="915923" y="0"/>
                  </a:lnTo>
                  <a:lnTo>
                    <a:pt x="9912095" y="0"/>
                  </a:lnTo>
                  <a:lnTo>
                    <a:pt x="9960738" y="1269"/>
                  </a:lnTo>
                  <a:lnTo>
                    <a:pt x="10008720" y="5036"/>
                  </a:lnTo>
                  <a:lnTo>
                    <a:pt x="10055977" y="11236"/>
                  </a:lnTo>
                  <a:lnTo>
                    <a:pt x="10102447" y="19807"/>
                  </a:lnTo>
                  <a:lnTo>
                    <a:pt x="10148065" y="30685"/>
                  </a:lnTo>
                  <a:lnTo>
                    <a:pt x="10192769" y="43807"/>
                  </a:lnTo>
                  <a:lnTo>
                    <a:pt x="10236495" y="59109"/>
                  </a:lnTo>
                  <a:lnTo>
                    <a:pt x="10279181" y="76529"/>
                  </a:lnTo>
                  <a:lnTo>
                    <a:pt x="10320761" y="96002"/>
                  </a:lnTo>
                  <a:lnTo>
                    <a:pt x="10361175" y="117466"/>
                  </a:lnTo>
                  <a:lnTo>
                    <a:pt x="10400357" y="140857"/>
                  </a:lnTo>
                  <a:lnTo>
                    <a:pt x="10438245" y="166113"/>
                  </a:lnTo>
                  <a:lnTo>
                    <a:pt x="10474776" y="193169"/>
                  </a:lnTo>
                  <a:lnTo>
                    <a:pt x="10509886" y="221962"/>
                  </a:lnTo>
                  <a:lnTo>
                    <a:pt x="10543511" y="252429"/>
                  </a:lnTo>
                  <a:lnTo>
                    <a:pt x="10575590" y="284508"/>
                  </a:lnTo>
                  <a:lnTo>
                    <a:pt x="10606057" y="318133"/>
                  </a:lnTo>
                  <a:lnTo>
                    <a:pt x="10634850" y="353243"/>
                  </a:lnTo>
                  <a:lnTo>
                    <a:pt x="10661906" y="389774"/>
                  </a:lnTo>
                  <a:lnTo>
                    <a:pt x="10687162" y="427662"/>
                  </a:lnTo>
                  <a:lnTo>
                    <a:pt x="10710553" y="466844"/>
                  </a:lnTo>
                  <a:lnTo>
                    <a:pt x="10732017" y="507258"/>
                  </a:lnTo>
                  <a:lnTo>
                    <a:pt x="10751490" y="548838"/>
                  </a:lnTo>
                  <a:lnTo>
                    <a:pt x="10768910" y="591524"/>
                  </a:lnTo>
                  <a:lnTo>
                    <a:pt x="10784212" y="635250"/>
                  </a:lnTo>
                  <a:lnTo>
                    <a:pt x="10797334" y="679954"/>
                  </a:lnTo>
                  <a:lnTo>
                    <a:pt x="10808212" y="725572"/>
                  </a:lnTo>
                  <a:lnTo>
                    <a:pt x="10816783" y="772042"/>
                  </a:lnTo>
                  <a:lnTo>
                    <a:pt x="10822983" y="819299"/>
                  </a:lnTo>
                  <a:lnTo>
                    <a:pt x="10826750" y="867281"/>
                  </a:lnTo>
                  <a:lnTo>
                    <a:pt x="10828019" y="915924"/>
                  </a:lnTo>
                  <a:lnTo>
                    <a:pt x="10826750" y="964566"/>
                  </a:lnTo>
                  <a:lnTo>
                    <a:pt x="10822983" y="1012548"/>
                  </a:lnTo>
                  <a:lnTo>
                    <a:pt x="10816783" y="1059805"/>
                  </a:lnTo>
                  <a:lnTo>
                    <a:pt x="10808212" y="1106275"/>
                  </a:lnTo>
                  <a:lnTo>
                    <a:pt x="10797334" y="1151893"/>
                  </a:lnTo>
                  <a:lnTo>
                    <a:pt x="10784212" y="1196597"/>
                  </a:lnTo>
                  <a:lnTo>
                    <a:pt x="10768910" y="1240323"/>
                  </a:lnTo>
                  <a:lnTo>
                    <a:pt x="10751490" y="1283009"/>
                  </a:lnTo>
                  <a:lnTo>
                    <a:pt x="10732017" y="1324589"/>
                  </a:lnTo>
                  <a:lnTo>
                    <a:pt x="10710553" y="1365003"/>
                  </a:lnTo>
                  <a:lnTo>
                    <a:pt x="10687162" y="1404185"/>
                  </a:lnTo>
                  <a:lnTo>
                    <a:pt x="10661906" y="1442073"/>
                  </a:lnTo>
                  <a:lnTo>
                    <a:pt x="10634850" y="1478604"/>
                  </a:lnTo>
                  <a:lnTo>
                    <a:pt x="10606057" y="1513714"/>
                  </a:lnTo>
                  <a:lnTo>
                    <a:pt x="10575590" y="1547339"/>
                  </a:lnTo>
                  <a:lnTo>
                    <a:pt x="10543511" y="1579418"/>
                  </a:lnTo>
                  <a:lnTo>
                    <a:pt x="10509886" y="1609885"/>
                  </a:lnTo>
                  <a:lnTo>
                    <a:pt x="10474776" y="1638678"/>
                  </a:lnTo>
                  <a:lnTo>
                    <a:pt x="10438245" y="1665734"/>
                  </a:lnTo>
                  <a:lnTo>
                    <a:pt x="10400357" y="1690990"/>
                  </a:lnTo>
                  <a:lnTo>
                    <a:pt x="10361175" y="1714381"/>
                  </a:lnTo>
                  <a:lnTo>
                    <a:pt x="10320761" y="1735845"/>
                  </a:lnTo>
                  <a:lnTo>
                    <a:pt x="10279181" y="1755318"/>
                  </a:lnTo>
                  <a:lnTo>
                    <a:pt x="10236495" y="1772738"/>
                  </a:lnTo>
                  <a:lnTo>
                    <a:pt x="10192769" y="1788040"/>
                  </a:lnTo>
                  <a:lnTo>
                    <a:pt x="10148065" y="1801162"/>
                  </a:lnTo>
                  <a:lnTo>
                    <a:pt x="10102447" y="1812040"/>
                  </a:lnTo>
                  <a:lnTo>
                    <a:pt x="10055977" y="1820611"/>
                  </a:lnTo>
                  <a:lnTo>
                    <a:pt x="10008720" y="1826811"/>
                  </a:lnTo>
                  <a:lnTo>
                    <a:pt x="9960738" y="1830578"/>
                  </a:lnTo>
                  <a:lnTo>
                    <a:pt x="9912095" y="1831848"/>
                  </a:lnTo>
                  <a:lnTo>
                    <a:pt x="915923" y="1831848"/>
                  </a:lnTo>
                  <a:lnTo>
                    <a:pt x="867279" y="1830578"/>
                  </a:lnTo>
                  <a:lnTo>
                    <a:pt x="819297" y="1826811"/>
                  </a:lnTo>
                  <a:lnTo>
                    <a:pt x="772039" y="1820611"/>
                  </a:lnTo>
                  <a:lnTo>
                    <a:pt x="725569" y="1812040"/>
                  </a:lnTo>
                  <a:lnTo>
                    <a:pt x="679950" y="1801162"/>
                  </a:lnTo>
                  <a:lnTo>
                    <a:pt x="635245" y="1788040"/>
                  </a:lnTo>
                  <a:lnTo>
                    <a:pt x="591519" y="1772738"/>
                  </a:lnTo>
                  <a:lnTo>
                    <a:pt x="548833" y="1755318"/>
                  </a:lnTo>
                  <a:lnTo>
                    <a:pt x="507252" y="1735845"/>
                  </a:lnTo>
                  <a:lnTo>
                    <a:pt x="466839" y="1714381"/>
                  </a:lnTo>
                  <a:lnTo>
                    <a:pt x="427656" y="1690990"/>
                  </a:lnTo>
                  <a:lnTo>
                    <a:pt x="389768" y="1665734"/>
                  </a:lnTo>
                  <a:lnTo>
                    <a:pt x="353238" y="1638678"/>
                  </a:lnTo>
                  <a:lnTo>
                    <a:pt x="318128" y="1609885"/>
                  </a:lnTo>
                  <a:lnTo>
                    <a:pt x="284503" y="1579418"/>
                  </a:lnTo>
                  <a:lnTo>
                    <a:pt x="252425" y="1547339"/>
                  </a:lnTo>
                  <a:lnTo>
                    <a:pt x="221958" y="1513714"/>
                  </a:lnTo>
                  <a:lnTo>
                    <a:pt x="193165" y="1478604"/>
                  </a:lnTo>
                  <a:lnTo>
                    <a:pt x="166109" y="1442073"/>
                  </a:lnTo>
                  <a:lnTo>
                    <a:pt x="140854" y="1404185"/>
                  </a:lnTo>
                  <a:lnTo>
                    <a:pt x="117463" y="1365003"/>
                  </a:lnTo>
                  <a:lnTo>
                    <a:pt x="96000" y="1324589"/>
                  </a:lnTo>
                  <a:lnTo>
                    <a:pt x="76527" y="1283009"/>
                  </a:lnTo>
                  <a:lnTo>
                    <a:pt x="59108" y="1240323"/>
                  </a:lnTo>
                  <a:lnTo>
                    <a:pt x="43806" y="1196597"/>
                  </a:lnTo>
                  <a:lnTo>
                    <a:pt x="30684" y="1151893"/>
                  </a:lnTo>
                  <a:lnTo>
                    <a:pt x="19806" y="1106275"/>
                  </a:lnTo>
                  <a:lnTo>
                    <a:pt x="11236" y="1059805"/>
                  </a:lnTo>
                  <a:lnTo>
                    <a:pt x="5036" y="1012548"/>
                  </a:lnTo>
                  <a:lnTo>
                    <a:pt x="1269" y="964566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5F497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9450" y="1471941"/>
              <a:ext cx="1888279" cy="6053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2727" y="1536217"/>
              <a:ext cx="1598675" cy="5288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6236" y="1479804"/>
              <a:ext cx="1804670" cy="530860"/>
            </a:xfrm>
            <a:custGeom>
              <a:avLst/>
              <a:gdLst/>
              <a:ahLst/>
              <a:cxnLst/>
              <a:rect l="l" t="t" r="r" b="b"/>
              <a:pathLst>
                <a:path w="1804670" h="530860">
                  <a:moveTo>
                    <a:pt x="1716024" y="0"/>
                  </a:moveTo>
                  <a:lnTo>
                    <a:pt x="88391" y="0"/>
                  </a:lnTo>
                  <a:lnTo>
                    <a:pt x="53985" y="6953"/>
                  </a:lnTo>
                  <a:lnTo>
                    <a:pt x="25888" y="25907"/>
                  </a:lnTo>
                  <a:lnTo>
                    <a:pt x="6946" y="54006"/>
                  </a:lnTo>
                  <a:lnTo>
                    <a:pt x="0" y="88392"/>
                  </a:lnTo>
                  <a:lnTo>
                    <a:pt x="0" y="441960"/>
                  </a:lnTo>
                  <a:lnTo>
                    <a:pt x="6946" y="476345"/>
                  </a:lnTo>
                  <a:lnTo>
                    <a:pt x="25888" y="504443"/>
                  </a:lnTo>
                  <a:lnTo>
                    <a:pt x="53985" y="523398"/>
                  </a:lnTo>
                  <a:lnTo>
                    <a:pt x="88391" y="530351"/>
                  </a:lnTo>
                  <a:lnTo>
                    <a:pt x="1716024" y="530351"/>
                  </a:lnTo>
                  <a:lnTo>
                    <a:pt x="1750409" y="523398"/>
                  </a:lnTo>
                  <a:lnTo>
                    <a:pt x="1778507" y="504444"/>
                  </a:lnTo>
                  <a:lnTo>
                    <a:pt x="1797462" y="476345"/>
                  </a:lnTo>
                  <a:lnTo>
                    <a:pt x="1804415" y="441960"/>
                  </a:lnTo>
                  <a:lnTo>
                    <a:pt x="1804415" y="88392"/>
                  </a:lnTo>
                  <a:lnTo>
                    <a:pt x="1797462" y="54006"/>
                  </a:lnTo>
                  <a:lnTo>
                    <a:pt x="1778508" y="25908"/>
                  </a:lnTo>
                  <a:lnTo>
                    <a:pt x="1750409" y="6953"/>
                  </a:lnTo>
                  <a:lnTo>
                    <a:pt x="1716024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88744" y="1599056"/>
            <a:ext cx="1277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Collection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00327" y="3238474"/>
            <a:ext cx="1906905" cy="633095"/>
            <a:chOff x="1100327" y="3238474"/>
            <a:chExt cx="1906905" cy="6330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0327" y="3238474"/>
              <a:ext cx="1906524" cy="6324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9679" y="3319297"/>
              <a:ext cx="1606295" cy="5288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26235" y="3264408"/>
              <a:ext cx="1804670" cy="530860"/>
            </a:xfrm>
            <a:custGeom>
              <a:avLst/>
              <a:gdLst/>
              <a:ahLst/>
              <a:cxnLst/>
              <a:rect l="l" t="t" r="r" b="b"/>
              <a:pathLst>
                <a:path w="1804670" h="530860">
                  <a:moveTo>
                    <a:pt x="1716024" y="0"/>
                  </a:moveTo>
                  <a:lnTo>
                    <a:pt x="88391" y="0"/>
                  </a:lnTo>
                  <a:lnTo>
                    <a:pt x="53985" y="6953"/>
                  </a:lnTo>
                  <a:lnTo>
                    <a:pt x="25888" y="25908"/>
                  </a:lnTo>
                  <a:lnTo>
                    <a:pt x="6946" y="54006"/>
                  </a:lnTo>
                  <a:lnTo>
                    <a:pt x="0" y="88391"/>
                  </a:lnTo>
                  <a:lnTo>
                    <a:pt x="0" y="441959"/>
                  </a:lnTo>
                  <a:lnTo>
                    <a:pt x="6946" y="476345"/>
                  </a:lnTo>
                  <a:lnTo>
                    <a:pt x="25888" y="504443"/>
                  </a:lnTo>
                  <a:lnTo>
                    <a:pt x="53985" y="523398"/>
                  </a:lnTo>
                  <a:lnTo>
                    <a:pt x="88391" y="530351"/>
                  </a:lnTo>
                  <a:lnTo>
                    <a:pt x="1716024" y="530351"/>
                  </a:lnTo>
                  <a:lnTo>
                    <a:pt x="1750409" y="523398"/>
                  </a:lnTo>
                  <a:lnTo>
                    <a:pt x="1778507" y="504444"/>
                  </a:lnTo>
                  <a:lnTo>
                    <a:pt x="1797462" y="476345"/>
                  </a:lnTo>
                  <a:lnTo>
                    <a:pt x="1804415" y="441959"/>
                  </a:lnTo>
                  <a:lnTo>
                    <a:pt x="1804415" y="88391"/>
                  </a:lnTo>
                  <a:lnTo>
                    <a:pt x="1797462" y="54006"/>
                  </a:lnTo>
                  <a:lnTo>
                    <a:pt x="1778508" y="25908"/>
                  </a:lnTo>
                  <a:lnTo>
                    <a:pt x="1750409" y="6953"/>
                  </a:lnTo>
                  <a:lnTo>
                    <a:pt x="1716024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85697" y="3383026"/>
            <a:ext cx="1285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Modelling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09450" y="5048794"/>
            <a:ext cx="1888489" cy="605790"/>
            <a:chOff x="1109450" y="5048794"/>
            <a:chExt cx="1888489" cy="60579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9450" y="5048794"/>
              <a:ext cx="1888279" cy="6053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3123" y="5111495"/>
              <a:ext cx="1357884" cy="5288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26235" y="5056631"/>
              <a:ext cx="1804670" cy="530860"/>
            </a:xfrm>
            <a:custGeom>
              <a:avLst/>
              <a:gdLst/>
              <a:ahLst/>
              <a:cxnLst/>
              <a:rect l="l" t="t" r="r" b="b"/>
              <a:pathLst>
                <a:path w="1804670" h="530860">
                  <a:moveTo>
                    <a:pt x="1716024" y="0"/>
                  </a:moveTo>
                  <a:lnTo>
                    <a:pt x="88391" y="0"/>
                  </a:lnTo>
                  <a:lnTo>
                    <a:pt x="53985" y="6953"/>
                  </a:lnTo>
                  <a:lnTo>
                    <a:pt x="25888" y="25908"/>
                  </a:lnTo>
                  <a:lnTo>
                    <a:pt x="6946" y="54006"/>
                  </a:lnTo>
                  <a:lnTo>
                    <a:pt x="0" y="88392"/>
                  </a:lnTo>
                  <a:lnTo>
                    <a:pt x="0" y="441960"/>
                  </a:lnTo>
                  <a:lnTo>
                    <a:pt x="6946" y="476345"/>
                  </a:lnTo>
                  <a:lnTo>
                    <a:pt x="25888" y="504444"/>
                  </a:lnTo>
                  <a:lnTo>
                    <a:pt x="53985" y="523398"/>
                  </a:lnTo>
                  <a:lnTo>
                    <a:pt x="88391" y="530352"/>
                  </a:lnTo>
                  <a:lnTo>
                    <a:pt x="1716024" y="530352"/>
                  </a:lnTo>
                  <a:lnTo>
                    <a:pt x="1750409" y="523398"/>
                  </a:lnTo>
                  <a:lnTo>
                    <a:pt x="1778507" y="504444"/>
                  </a:lnTo>
                  <a:lnTo>
                    <a:pt x="1797462" y="476345"/>
                  </a:lnTo>
                  <a:lnTo>
                    <a:pt x="1804415" y="441960"/>
                  </a:lnTo>
                  <a:lnTo>
                    <a:pt x="1804415" y="88392"/>
                  </a:lnTo>
                  <a:lnTo>
                    <a:pt x="1797462" y="54006"/>
                  </a:lnTo>
                  <a:lnTo>
                    <a:pt x="1778508" y="25908"/>
                  </a:lnTo>
                  <a:lnTo>
                    <a:pt x="1750409" y="6953"/>
                  </a:lnTo>
                  <a:lnTo>
                    <a:pt x="1716024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09141" y="5175630"/>
            <a:ext cx="10369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82211" y="3279660"/>
            <a:ext cx="515620" cy="582295"/>
            <a:chOff x="3982211" y="3279660"/>
            <a:chExt cx="515620" cy="58229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2211" y="3284232"/>
              <a:ext cx="515124" cy="5090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7451" y="3279660"/>
              <a:ext cx="483082" cy="5821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08119" y="3310127"/>
              <a:ext cx="413384" cy="407034"/>
            </a:xfrm>
            <a:custGeom>
              <a:avLst/>
              <a:gdLst/>
              <a:ahLst/>
              <a:cxnLst/>
              <a:rect l="l" t="t" r="r" b="b"/>
              <a:pathLst>
                <a:path w="413385" h="407035">
                  <a:moveTo>
                    <a:pt x="206501" y="0"/>
                  </a:moveTo>
                  <a:lnTo>
                    <a:pt x="159153" y="5371"/>
                  </a:lnTo>
                  <a:lnTo>
                    <a:pt x="115688" y="20673"/>
                  </a:lnTo>
                  <a:lnTo>
                    <a:pt x="77346" y="44686"/>
                  </a:lnTo>
                  <a:lnTo>
                    <a:pt x="45366" y="76191"/>
                  </a:lnTo>
                  <a:lnTo>
                    <a:pt x="20989" y="113966"/>
                  </a:lnTo>
                  <a:lnTo>
                    <a:pt x="5453" y="156794"/>
                  </a:lnTo>
                  <a:lnTo>
                    <a:pt x="0" y="203454"/>
                  </a:lnTo>
                  <a:lnTo>
                    <a:pt x="5453" y="250113"/>
                  </a:lnTo>
                  <a:lnTo>
                    <a:pt x="20989" y="292941"/>
                  </a:lnTo>
                  <a:lnTo>
                    <a:pt x="45366" y="330716"/>
                  </a:lnTo>
                  <a:lnTo>
                    <a:pt x="77346" y="362221"/>
                  </a:lnTo>
                  <a:lnTo>
                    <a:pt x="115688" y="386234"/>
                  </a:lnTo>
                  <a:lnTo>
                    <a:pt x="159153" y="401536"/>
                  </a:lnTo>
                  <a:lnTo>
                    <a:pt x="206501" y="406908"/>
                  </a:lnTo>
                  <a:lnTo>
                    <a:pt x="253850" y="401536"/>
                  </a:lnTo>
                  <a:lnTo>
                    <a:pt x="297315" y="386234"/>
                  </a:lnTo>
                  <a:lnTo>
                    <a:pt x="335657" y="362221"/>
                  </a:lnTo>
                  <a:lnTo>
                    <a:pt x="367637" y="330716"/>
                  </a:lnTo>
                  <a:lnTo>
                    <a:pt x="392014" y="292941"/>
                  </a:lnTo>
                  <a:lnTo>
                    <a:pt x="407550" y="250113"/>
                  </a:lnTo>
                  <a:lnTo>
                    <a:pt x="413003" y="203454"/>
                  </a:lnTo>
                  <a:lnTo>
                    <a:pt x="407550" y="156794"/>
                  </a:lnTo>
                  <a:lnTo>
                    <a:pt x="392014" y="113966"/>
                  </a:lnTo>
                  <a:lnTo>
                    <a:pt x="367637" y="76191"/>
                  </a:lnTo>
                  <a:lnTo>
                    <a:pt x="335657" y="44686"/>
                  </a:lnTo>
                  <a:lnTo>
                    <a:pt x="297315" y="20673"/>
                  </a:lnTo>
                  <a:lnTo>
                    <a:pt x="253850" y="5371"/>
                  </a:lnTo>
                  <a:lnTo>
                    <a:pt x="206501" y="0"/>
                  </a:lnTo>
                  <a:close/>
                </a:path>
              </a:pathLst>
            </a:custGeom>
            <a:solidFill>
              <a:srgbClr val="C56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49090" y="3349497"/>
            <a:ext cx="13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0394" y="3895090"/>
            <a:ext cx="10858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Problem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definition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40582" y="2801874"/>
            <a:ext cx="112585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04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problem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are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trying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12600" y="3297872"/>
            <a:ext cx="1617345" cy="436245"/>
            <a:chOff x="5312600" y="3297872"/>
            <a:chExt cx="1617345" cy="436245"/>
          </a:xfrm>
        </p:grpSpPr>
        <p:sp>
          <p:nvSpPr>
            <p:cNvPr id="28" name="object 28"/>
            <p:cNvSpPr/>
            <p:nvPr/>
          </p:nvSpPr>
          <p:spPr>
            <a:xfrm>
              <a:off x="5325618" y="3358895"/>
              <a:ext cx="360045" cy="361950"/>
            </a:xfrm>
            <a:custGeom>
              <a:avLst/>
              <a:gdLst/>
              <a:ahLst/>
              <a:cxnLst/>
              <a:rect l="l" t="t" r="r" b="b"/>
              <a:pathLst>
                <a:path w="360045" h="361950">
                  <a:moveTo>
                    <a:pt x="359664" y="0"/>
                  </a:moveTo>
                  <a:lnTo>
                    <a:pt x="345531" y="17525"/>
                  </a:lnTo>
                  <a:lnTo>
                    <a:pt x="306990" y="31813"/>
                  </a:lnTo>
                  <a:lnTo>
                    <a:pt x="249828" y="41433"/>
                  </a:lnTo>
                  <a:lnTo>
                    <a:pt x="179832" y="44957"/>
                  </a:lnTo>
                  <a:lnTo>
                    <a:pt x="109835" y="41433"/>
                  </a:lnTo>
                  <a:lnTo>
                    <a:pt x="52673" y="31813"/>
                  </a:lnTo>
                  <a:lnTo>
                    <a:pt x="14132" y="17525"/>
                  </a:lnTo>
                  <a:lnTo>
                    <a:pt x="0" y="0"/>
                  </a:lnTo>
                  <a:lnTo>
                    <a:pt x="0" y="316991"/>
                  </a:lnTo>
                  <a:lnTo>
                    <a:pt x="14132" y="334517"/>
                  </a:lnTo>
                  <a:lnTo>
                    <a:pt x="52673" y="348805"/>
                  </a:lnTo>
                  <a:lnTo>
                    <a:pt x="109835" y="358425"/>
                  </a:lnTo>
                  <a:lnTo>
                    <a:pt x="179832" y="361949"/>
                  </a:lnTo>
                  <a:lnTo>
                    <a:pt x="249828" y="358425"/>
                  </a:lnTo>
                  <a:lnTo>
                    <a:pt x="306990" y="348805"/>
                  </a:lnTo>
                  <a:lnTo>
                    <a:pt x="345531" y="334517"/>
                  </a:lnTo>
                  <a:lnTo>
                    <a:pt x="359664" y="316991"/>
                  </a:lnTo>
                  <a:lnTo>
                    <a:pt x="359664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25618" y="3313937"/>
              <a:ext cx="360045" cy="90170"/>
            </a:xfrm>
            <a:custGeom>
              <a:avLst/>
              <a:gdLst/>
              <a:ahLst/>
              <a:cxnLst/>
              <a:rect l="l" t="t" r="r" b="b"/>
              <a:pathLst>
                <a:path w="360045" h="90170">
                  <a:moveTo>
                    <a:pt x="179832" y="0"/>
                  </a:moveTo>
                  <a:lnTo>
                    <a:pt x="109835" y="3524"/>
                  </a:lnTo>
                  <a:lnTo>
                    <a:pt x="52673" y="13144"/>
                  </a:lnTo>
                  <a:lnTo>
                    <a:pt x="14132" y="27432"/>
                  </a:lnTo>
                  <a:lnTo>
                    <a:pt x="0" y="44958"/>
                  </a:lnTo>
                  <a:lnTo>
                    <a:pt x="14132" y="62484"/>
                  </a:lnTo>
                  <a:lnTo>
                    <a:pt x="52673" y="76771"/>
                  </a:lnTo>
                  <a:lnTo>
                    <a:pt x="109835" y="86391"/>
                  </a:lnTo>
                  <a:lnTo>
                    <a:pt x="179832" y="89915"/>
                  </a:lnTo>
                  <a:lnTo>
                    <a:pt x="249828" y="86391"/>
                  </a:lnTo>
                  <a:lnTo>
                    <a:pt x="306990" y="76771"/>
                  </a:lnTo>
                  <a:lnTo>
                    <a:pt x="345531" y="62484"/>
                  </a:lnTo>
                  <a:lnTo>
                    <a:pt x="359664" y="44958"/>
                  </a:lnTo>
                  <a:lnTo>
                    <a:pt x="345531" y="27431"/>
                  </a:lnTo>
                  <a:lnTo>
                    <a:pt x="306990" y="13144"/>
                  </a:lnTo>
                  <a:lnTo>
                    <a:pt x="249828" y="3524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25618" y="3313937"/>
              <a:ext cx="360045" cy="407034"/>
            </a:xfrm>
            <a:custGeom>
              <a:avLst/>
              <a:gdLst/>
              <a:ahLst/>
              <a:cxnLst/>
              <a:rect l="l" t="t" r="r" b="b"/>
              <a:pathLst>
                <a:path w="360045" h="407035">
                  <a:moveTo>
                    <a:pt x="359664" y="44958"/>
                  </a:moveTo>
                  <a:lnTo>
                    <a:pt x="345531" y="62484"/>
                  </a:lnTo>
                  <a:lnTo>
                    <a:pt x="306990" y="76771"/>
                  </a:lnTo>
                  <a:lnTo>
                    <a:pt x="249828" y="86391"/>
                  </a:lnTo>
                  <a:lnTo>
                    <a:pt x="179832" y="89915"/>
                  </a:lnTo>
                  <a:lnTo>
                    <a:pt x="109835" y="86391"/>
                  </a:lnTo>
                  <a:lnTo>
                    <a:pt x="52673" y="76771"/>
                  </a:lnTo>
                  <a:lnTo>
                    <a:pt x="14132" y="62484"/>
                  </a:lnTo>
                  <a:lnTo>
                    <a:pt x="0" y="44958"/>
                  </a:lnTo>
                  <a:lnTo>
                    <a:pt x="14132" y="27432"/>
                  </a:lnTo>
                  <a:lnTo>
                    <a:pt x="52673" y="13144"/>
                  </a:lnTo>
                  <a:lnTo>
                    <a:pt x="109835" y="3524"/>
                  </a:lnTo>
                  <a:lnTo>
                    <a:pt x="179832" y="0"/>
                  </a:lnTo>
                  <a:lnTo>
                    <a:pt x="249828" y="3524"/>
                  </a:lnTo>
                  <a:lnTo>
                    <a:pt x="306990" y="13144"/>
                  </a:lnTo>
                  <a:lnTo>
                    <a:pt x="345531" y="27431"/>
                  </a:lnTo>
                  <a:lnTo>
                    <a:pt x="359664" y="44958"/>
                  </a:lnTo>
                  <a:close/>
                </a:path>
                <a:path w="360045" h="407035">
                  <a:moveTo>
                    <a:pt x="359664" y="44958"/>
                  </a:moveTo>
                  <a:lnTo>
                    <a:pt x="359664" y="361950"/>
                  </a:lnTo>
                  <a:lnTo>
                    <a:pt x="345531" y="379475"/>
                  </a:lnTo>
                  <a:lnTo>
                    <a:pt x="306990" y="393763"/>
                  </a:lnTo>
                  <a:lnTo>
                    <a:pt x="249828" y="403383"/>
                  </a:lnTo>
                  <a:lnTo>
                    <a:pt x="179832" y="406907"/>
                  </a:lnTo>
                  <a:lnTo>
                    <a:pt x="109835" y="403383"/>
                  </a:lnTo>
                  <a:lnTo>
                    <a:pt x="52673" y="393763"/>
                  </a:lnTo>
                  <a:lnTo>
                    <a:pt x="14132" y="379475"/>
                  </a:lnTo>
                  <a:lnTo>
                    <a:pt x="0" y="361950"/>
                  </a:lnTo>
                  <a:lnTo>
                    <a:pt x="0" y="44958"/>
                  </a:lnTo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79286" y="3310889"/>
              <a:ext cx="437515" cy="410209"/>
            </a:xfrm>
            <a:custGeom>
              <a:avLst/>
              <a:gdLst/>
              <a:ahLst/>
              <a:cxnLst/>
              <a:rect l="l" t="t" r="r" b="b"/>
              <a:pathLst>
                <a:path w="437515" h="410210">
                  <a:moveTo>
                    <a:pt x="437388" y="0"/>
                  </a:moveTo>
                  <a:lnTo>
                    <a:pt x="0" y="0"/>
                  </a:lnTo>
                  <a:lnTo>
                    <a:pt x="0" y="409956"/>
                  </a:lnTo>
                  <a:lnTo>
                    <a:pt x="437388" y="409956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79286" y="3310889"/>
              <a:ext cx="437515" cy="410209"/>
            </a:xfrm>
            <a:custGeom>
              <a:avLst/>
              <a:gdLst/>
              <a:ahLst/>
              <a:cxnLst/>
              <a:rect l="l" t="t" r="r" b="b"/>
              <a:pathLst>
                <a:path w="437515" h="410210">
                  <a:moveTo>
                    <a:pt x="0" y="409956"/>
                  </a:moveTo>
                  <a:lnTo>
                    <a:pt x="437388" y="409956"/>
                  </a:lnTo>
                  <a:lnTo>
                    <a:pt x="437388" y="0"/>
                  </a:lnTo>
                  <a:lnTo>
                    <a:pt x="0" y="0"/>
                  </a:lnTo>
                  <a:lnTo>
                    <a:pt x="0" y="40995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45684" y="3895090"/>
            <a:ext cx="2940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56123" y="2808477"/>
            <a:ext cx="77470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79285" y="3310890"/>
            <a:ext cx="437515" cy="41020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440"/>
              </a:spcBef>
            </a:pPr>
            <a:r>
              <a:rPr sz="1800" spc="-50" dirty="0">
                <a:latin typeface="Segoe UI Symbol"/>
                <a:cs typeface="Segoe UI Symbol"/>
              </a:rPr>
              <a:t>✓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85305" y="3903979"/>
            <a:ext cx="6248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Evaluation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93358" y="2801874"/>
            <a:ext cx="78232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defines </a:t>
            </a:r>
            <a:r>
              <a:rPr sz="1100" dirty="0">
                <a:latin typeface="Calibri"/>
                <a:cs typeface="Calibri"/>
              </a:rPr>
              <a:t>success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37730" y="1707642"/>
            <a:ext cx="10217150" cy="3652520"/>
            <a:chOff x="437730" y="1707642"/>
            <a:chExt cx="10217150" cy="3652520"/>
          </a:xfrm>
        </p:grpSpPr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05343" y="3310128"/>
              <a:ext cx="437388" cy="4389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44355" y="3316224"/>
              <a:ext cx="438911" cy="4389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15372" y="3319272"/>
              <a:ext cx="438912" cy="43891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91106" y="2010917"/>
              <a:ext cx="113664" cy="3064510"/>
            </a:xfrm>
            <a:custGeom>
              <a:avLst/>
              <a:gdLst/>
              <a:ahLst/>
              <a:cxnLst/>
              <a:rect l="l" t="t" r="r" b="b"/>
              <a:pathLst>
                <a:path w="113664" h="306451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194" y="76200"/>
                  </a:lnTo>
                  <a:lnTo>
                    <a:pt x="28194" y="1177036"/>
                  </a:lnTo>
                  <a:lnTo>
                    <a:pt x="0" y="1177036"/>
                  </a:lnTo>
                  <a:lnTo>
                    <a:pt x="38100" y="1253236"/>
                  </a:lnTo>
                  <a:lnTo>
                    <a:pt x="69913" y="1189609"/>
                  </a:lnTo>
                  <a:lnTo>
                    <a:pt x="76200" y="1177036"/>
                  </a:lnTo>
                  <a:lnTo>
                    <a:pt x="48006" y="1177036"/>
                  </a:lnTo>
                  <a:lnTo>
                    <a:pt x="48006" y="76200"/>
                  </a:lnTo>
                  <a:lnTo>
                    <a:pt x="76200" y="76200"/>
                  </a:lnTo>
                  <a:close/>
                </a:path>
                <a:path w="113664" h="3064510">
                  <a:moveTo>
                    <a:pt x="113411" y="1964817"/>
                  </a:moveTo>
                  <a:lnTo>
                    <a:pt x="107061" y="1951863"/>
                  </a:lnTo>
                  <a:lnTo>
                    <a:pt x="106946" y="1951609"/>
                  </a:lnTo>
                  <a:lnTo>
                    <a:pt x="75946" y="1888236"/>
                  </a:lnTo>
                  <a:lnTo>
                    <a:pt x="37211" y="1964055"/>
                  </a:lnTo>
                  <a:lnTo>
                    <a:pt x="65417" y="1964347"/>
                  </a:lnTo>
                  <a:lnTo>
                    <a:pt x="56248" y="2987675"/>
                  </a:lnTo>
                  <a:lnTo>
                    <a:pt x="56235" y="2987916"/>
                  </a:lnTo>
                  <a:lnTo>
                    <a:pt x="28067" y="2987675"/>
                  </a:lnTo>
                  <a:lnTo>
                    <a:pt x="65532" y="3064256"/>
                  </a:lnTo>
                  <a:lnTo>
                    <a:pt x="97917" y="3000756"/>
                  </a:lnTo>
                  <a:lnTo>
                    <a:pt x="104267" y="2988310"/>
                  </a:lnTo>
                  <a:lnTo>
                    <a:pt x="76047" y="2988081"/>
                  </a:lnTo>
                  <a:lnTo>
                    <a:pt x="85217" y="1964817"/>
                  </a:lnTo>
                  <a:lnTo>
                    <a:pt x="85229" y="1964537"/>
                  </a:lnTo>
                  <a:lnTo>
                    <a:pt x="113411" y="1964817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7730" y="1707642"/>
              <a:ext cx="702310" cy="3652520"/>
            </a:xfrm>
            <a:custGeom>
              <a:avLst/>
              <a:gdLst/>
              <a:ahLst/>
              <a:cxnLst/>
              <a:rect l="l" t="t" r="r" b="b"/>
              <a:pathLst>
                <a:path w="702310" h="3652520">
                  <a:moveTo>
                    <a:pt x="613067" y="3575939"/>
                  </a:moveTo>
                  <a:lnTo>
                    <a:pt x="613067" y="3652139"/>
                  </a:lnTo>
                  <a:lnTo>
                    <a:pt x="669455" y="3623945"/>
                  </a:lnTo>
                  <a:lnTo>
                    <a:pt x="625767" y="3623945"/>
                  </a:lnTo>
                  <a:lnTo>
                    <a:pt x="625767" y="3604133"/>
                  </a:lnTo>
                  <a:lnTo>
                    <a:pt x="669455" y="3604133"/>
                  </a:lnTo>
                  <a:lnTo>
                    <a:pt x="613067" y="3575939"/>
                  </a:lnTo>
                  <a:close/>
                </a:path>
                <a:path w="702310" h="3652520">
                  <a:moveTo>
                    <a:pt x="625767" y="28194"/>
                  </a:moveTo>
                  <a:lnTo>
                    <a:pt x="4432" y="28194"/>
                  </a:lnTo>
                  <a:lnTo>
                    <a:pt x="0" y="32638"/>
                  </a:lnTo>
                  <a:lnTo>
                    <a:pt x="0" y="3619500"/>
                  </a:lnTo>
                  <a:lnTo>
                    <a:pt x="4432" y="3623945"/>
                  </a:lnTo>
                  <a:lnTo>
                    <a:pt x="613067" y="3623945"/>
                  </a:lnTo>
                  <a:lnTo>
                    <a:pt x="613067" y="3614039"/>
                  </a:lnTo>
                  <a:lnTo>
                    <a:pt x="19812" y="3614039"/>
                  </a:lnTo>
                  <a:lnTo>
                    <a:pt x="9906" y="3604133"/>
                  </a:lnTo>
                  <a:lnTo>
                    <a:pt x="19812" y="3604133"/>
                  </a:lnTo>
                  <a:lnTo>
                    <a:pt x="19812" y="48006"/>
                  </a:lnTo>
                  <a:lnTo>
                    <a:pt x="9906" y="48006"/>
                  </a:lnTo>
                  <a:lnTo>
                    <a:pt x="19812" y="38100"/>
                  </a:lnTo>
                  <a:lnTo>
                    <a:pt x="625767" y="38100"/>
                  </a:lnTo>
                  <a:lnTo>
                    <a:pt x="625767" y="28194"/>
                  </a:lnTo>
                  <a:close/>
                </a:path>
                <a:path w="702310" h="3652520">
                  <a:moveTo>
                    <a:pt x="669455" y="3604133"/>
                  </a:moveTo>
                  <a:lnTo>
                    <a:pt x="625767" y="3604133"/>
                  </a:lnTo>
                  <a:lnTo>
                    <a:pt x="625767" y="3623945"/>
                  </a:lnTo>
                  <a:lnTo>
                    <a:pt x="669455" y="3623945"/>
                  </a:lnTo>
                  <a:lnTo>
                    <a:pt x="689267" y="3614039"/>
                  </a:lnTo>
                  <a:lnTo>
                    <a:pt x="669455" y="3604133"/>
                  </a:lnTo>
                  <a:close/>
                </a:path>
                <a:path w="702310" h="3652520">
                  <a:moveTo>
                    <a:pt x="19812" y="3604133"/>
                  </a:moveTo>
                  <a:lnTo>
                    <a:pt x="9906" y="3604133"/>
                  </a:lnTo>
                  <a:lnTo>
                    <a:pt x="19812" y="3614039"/>
                  </a:lnTo>
                  <a:lnTo>
                    <a:pt x="19812" y="3604133"/>
                  </a:lnTo>
                  <a:close/>
                </a:path>
                <a:path w="702310" h="3652520">
                  <a:moveTo>
                    <a:pt x="613067" y="3604133"/>
                  </a:moveTo>
                  <a:lnTo>
                    <a:pt x="19812" y="3604133"/>
                  </a:lnTo>
                  <a:lnTo>
                    <a:pt x="19812" y="3614039"/>
                  </a:lnTo>
                  <a:lnTo>
                    <a:pt x="613067" y="3614039"/>
                  </a:lnTo>
                  <a:lnTo>
                    <a:pt x="613067" y="3604133"/>
                  </a:lnTo>
                  <a:close/>
                </a:path>
                <a:path w="702310" h="3652520">
                  <a:moveTo>
                    <a:pt x="625767" y="0"/>
                  </a:moveTo>
                  <a:lnTo>
                    <a:pt x="625767" y="76200"/>
                  </a:lnTo>
                  <a:lnTo>
                    <a:pt x="682155" y="48006"/>
                  </a:lnTo>
                  <a:lnTo>
                    <a:pt x="638467" y="48006"/>
                  </a:lnTo>
                  <a:lnTo>
                    <a:pt x="638467" y="28194"/>
                  </a:lnTo>
                  <a:lnTo>
                    <a:pt x="682155" y="28194"/>
                  </a:lnTo>
                  <a:lnTo>
                    <a:pt x="625767" y="0"/>
                  </a:lnTo>
                  <a:close/>
                </a:path>
                <a:path w="702310" h="3652520">
                  <a:moveTo>
                    <a:pt x="19812" y="38100"/>
                  </a:moveTo>
                  <a:lnTo>
                    <a:pt x="9906" y="48006"/>
                  </a:lnTo>
                  <a:lnTo>
                    <a:pt x="19812" y="48006"/>
                  </a:lnTo>
                  <a:lnTo>
                    <a:pt x="19812" y="38100"/>
                  </a:lnTo>
                  <a:close/>
                </a:path>
                <a:path w="702310" h="3652520">
                  <a:moveTo>
                    <a:pt x="625767" y="38100"/>
                  </a:moveTo>
                  <a:lnTo>
                    <a:pt x="19812" y="38100"/>
                  </a:lnTo>
                  <a:lnTo>
                    <a:pt x="19812" y="48006"/>
                  </a:lnTo>
                  <a:lnTo>
                    <a:pt x="625767" y="48006"/>
                  </a:lnTo>
                  <a:lnTo>
                    <a:pt x="625767" y="38100"/>
                  </a:lnTo>
                  <a:close/>
                </a:path>
                <a:path w="702310" h="3652520">
                  <a:moveTo>
                    <a:pt x="682155" y="28194"/>
                  </a:moveTo>
                  <a:lnTo>
                    <a:pt x="638467" y="28194"/>
                  </a:lnTo>
                  <a:lnTo>
                    <a:pt x="638467" y="48006"/>
                  </a:lnTo>
                  <a:lnTo>
                    <a:pt x="682155" y="48006"/>
                  </a:lnTo>
                  <a:lnTo>
                    <a:pt x="701967" y="38100"/>
                  </a:lnTo>
                  <a:lnTo>
                    <a:pt x="682155" y="2819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baseline="-2500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664577" y="3892041"/>
            <a:ext cx="5207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Features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78065" y="2808477"/>
            <a:ext cx="109156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features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867393" y="3910329"/>
            <a:ext cx="5994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Modelling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99118" y="2811526"/>
            <a:ext cx="93027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033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model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072878" y="3903979"/>
            <a:ext cx="7372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Experiments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851897" y="2824429"/>
            <a:ext cx="12871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have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tried/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what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3" y="80517"/>
            <a:ext cx="8525510" cy="492443"/>
          </a:xfrm>
        </p:spPr>
        <p:txBody>
          <a:bodyPr/>
          <a:lstStyle/>
          <a:p>
            <a:r>
              <a:rPr lang="en-US" sz="32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Discrete Variable</a:t>
            </a:r>
            <a:endParaRPr lang="en-US" sz="32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838200"/>
            <a:ext cx="12039600" cy="55399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 discrete variable is a type of variable that can only take on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specific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, distinct values.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These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values are typically whole numbers or integers.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Discrete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variables often represent counts or categories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eg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: Number of students in a classroom: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It is a discrete variable because it can only take on whole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number values (e.g., 25 students, 30 students).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Outcomes of rolling a six-sided die: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The output will be (1, 2, 3, 4, 5, or 6) which are discrete because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 they consist of distinct, separate categories.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Number of books on a shelf: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The number of books is discrete because it cannot take 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fractional or continuous values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(e.g., 5 books, 10 books, 15 books).</a:t>
            </a:r>
          </a:p>
        </p:txBody>
      </p:sp>
    </p:spTree>
    <p:extLst>
      <p:ext uri="{BB962C8B-B14F-4D97-AF65-F5344CB8AC3E}">
        <p14:creationId xmlns:p14="http://schemas.microsoft.com/office/powerpoint/2010/main" val="828512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3" y="80517"/>
            <a:ext cx="8525510" cy="492443"/>
          </a:xfrm>
        </p:spPr>
        <p:txBody>
          <a:bodyPr/>
          <a:lstStyle/>
          <a:p>
            <a:r>
              <a:rPr lang="en-US" sz="3200" u="sng" dirty="0">
                <a:latin typeface="Helvetica" panose="020B0604020202020204" pitchFamily="34" charset="0"/>
                <a:cs typeface="Helvetica" panose="020B0604020202020204" pitchFamily="34" charset="0"/>
              </a:rPr>
              <a:t>Continuous</a:t>
            </a:r>
            <a:r>
              <a:rPr lang="en-US" sz="32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Variable</a:t>
            </a:r>
            <a:endParaRPr lang="en-US" sz="32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838200"/>
            <a:ext cx="12039600" cy="55399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Continuous variable is a type of variable that can take on any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value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within a given range.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continuous variables can represent an infinite number of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possible values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, including fractional and decimal values.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Continuous variables often represent measurements or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quantities.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Eg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Height: Height is a continuous variable because it can take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on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any value within a range (e.g., 150.5 cm, 162.3 cm, 175.9 cm).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Weight: Weight is continuous because it can be measured with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precision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and can take on any value within a range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(e.g., 55.3 kg, 68.7 kg, 72.1 kg).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Time: Time can be measured with precision, and it can take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on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any value (e.g., 10:30:15.5 AM, 10:45:30.75 AM).</a:t>
            </a:r>
          </a:p>
        </p:txBody>
      </p:sp>
    </p:spTree>
    <p:extLst>
      <p:ext uri="{BB962C8B-B14F-4D97-AF65-F5344CB8AC3E}">
        <p14:creationId xmlns:p14="http://schemas.microsoft.com/office/powerpoint/2010/main" val="1383768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3" y="80517"/>
            <a:ext cx="8525510" cy="492443"/>
          </a:xfrm>
        </p:spPr>
        <p:txBody>
          <a:bodyPr/>
          <a:lstStyle/>
          <a:p>
            <a:r>
              <a:rPr lang="en-US" sz="3200" u="sng" dirty="0">
                <a:latin typeface="Helvetica" panose="020B0604020202020204" pitchFamily="34" charset="0"/>
                <a:cs typeface="Helvetica" panose="020B0604020202020204" pitchFamily="34" charset="0"/>
              </a:rPr>
              <a:t>Categorical </a:t>
            </a:r>
            <a:r>
              <a:rPr lang="en-US" sz="3200" u="sng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endParaRPr lang="en-US" sz="32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02" y="838200"/>
            <a:ext cx="11867897" cy="332398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Categorical data refers to variables that belong to distinct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categories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such as labels, names or types. </a:t>
            </a:r>
            <a:endParaRPr lang="en-US" sz="24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Since most machine learning algorithms require numerical inputs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encoding categorical data to numerical data becomes important. </a:t>
            </a:r>
            <a:endParaRPr lang="en-US" sz="24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Proper encoding ensures that models can interpret categorical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effectively, leading to improved predictive accuracy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reduced bias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287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3" y="80517"/>
            <a:ext cx="8525510" cy="984885"/>
          </a:xfrm>
        </p:spPr>
        <p:txBody>
          <a:bodyPr/>
          <a:lstStyle/>
          <a:p>
            <a:r>
              <a:rPr lang="en-US" sz="3200" u="sng" dirty="0">
                <a:latin typeface="Helvetica" panose="020B0604020202020204" pitchFamily="34" charset="0"/>
                <a:cs typeface="Helvetica" panose="020B0604020202020204" pitchFamily="34" charset="0"/>
              </a:rPr>
              <a:t>Types of Categorical Data</a:t>
            </a:r>
            <a:br>
              <a:rPr lang="en-US" sz="3200" u="sng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3200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2000"/>
            <a:ext cx="11811000" cy="4801314"/>
          </a:xfrm>
        </p:spPr>
        <p:txBody>
          <a:bodyPr/>
          <a:lstStyle/>
          <a:p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. Nominal Data: Nominal data consists of categories without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any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inherent order or ranking.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These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are simple labels used to classify data.</a:t>
            </a:r>
          </a:p>
          <a:p>
            <a:r>
              <a:rPr lang="en-US" sz="24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Eg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'Red', 'Blue', 'Green' (Car Color).</a:t>
            </a: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Encoding Options: One-Hot Encoding or Label Encoding,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depending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on the model's needs.</a:t>
            </a:r>
          </a:p>
          <a:p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2. Ordinal Data: Ordinal data includes categories with a defined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order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or ranking, where the relationship between values is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important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r>
              <a:rPr lang="en-US" sz="24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Eg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: 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'Low', 'Medium', 'High' (Car Engine Power).</a:t>
            </a:r>
          </a:p>
          <a:p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Encoding Options: Ordinal Encoding.</a:t>
            </a:r>
          </a:p>
          <a:p>
            <a:endParaRPr 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Using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the right encoding techniques, we can effectively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transform 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categorical data for machine learning models which improves </a:t>
            </a:r>
            <a:r>
              <a:rPr lang="en-US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their </a:t>
            </a:r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performance and predictive capabilities</a:t>
            </a:r>
          </a:p>
        </p:txBody>
      </p:sp>
    </p:spTree>
    <p:extLst>
      <p:ext uri="{BB962C8B-B14F-4D97-AF65-F5344CB8AC3E}">
        <p14:creationId xmlns:p14="http://schemas.microsoft.com/office/powerpoint/2010/main" val="2821888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581400" y="2895600"/>
            <a:ext cx="9296400" cy="2387600"/>
          </a:xfrm>
        </p:spPr>
        <p:txBody>
          <a:bodyPr>
            <a:normAutofit/>
          </a:bodyPr>
          <a:lstStyle/>
          <a:p>
            <a:r>
              <a:rPr lang="en-IN" sz="6600" b="1" u="sng" dirty="0" smtClean="0">
                <a:solidFill>
                  <a:schemeClr val="tx2">
                    <a:lumMod val="75000"/>
                  </a:schemeClr>
                </a:solidFill>
              </a:rPr>
              <a:t>Thank You!!</a:t>
            </a:r>
            <a:endParaRPr lang="en-US" sz="66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0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</TotalTime>
  <Words>1840</Words>
  <Application>Microsoft Office PowerPoint</Application>
  <PresentationFormat>Widescreen</PresentationFormat>
  <Paragraphs>240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 Math</vt:lpstr>
      <vt:lpstr>Ebrima</vt:lpstr>
      <vt:lpstr>Helvetica</vt:lpstr>
      <vt:lpstr>Segoe UI Symbol</vt:lpstr>
      <vt:lpstr>Wingdings</vt:lpstr>
      <vt:lpstr>Office Theme</vt:lpstr>
      <vt:lpstr>MACHINE LEARNING  End to End Process </vt:lpstr>
      <vt:lpstr>Measures of Correlation</vt:lpstr>
      <vt:lpstr>Terminology</vt:lpstr>
      <vt:lpstr>Terminology</vt:lpstr>
      <vt:lpstr>Correlation</vt:lpstr>
      <vt:lpstr>Correlation</vt:lpstr>
      <vt:lpstr>Correlation coefficient</vt:lpstr>
      <vt:lpstr>Covariance vs Correlation</vt:lpstr>
      <vt:lpstr>End to End Process</vt:lpstr>
      <vt:lpstr>PowerPoint Presentation</vt:lpstr>
      <vt:lpstr>Look at the Big Picture</vt:lpstr>
      <vt:lpstr>Performance Measures</vt:lpstr>
      <vt:lpstr>Performance Measures</vt:lpstr>
      <vt:lpstr>Get the data</vt:lpstr>
      <vt:lpstr>Discover and Visualize the Data to Gain Insights</vt:lpstr>
      <vt:lpstr>Prepare the Data for Machine Learning Algorithms</vt:lpstr>
      <vt:lpstr>Select and Train a Model</vt:lpstr>
      <vt:lpstr>Fine-Tune Your Model</vt:lpstr>
      <vt:lpstr>Launch, Monitor, and Maintain Your System</vt:lpstr>
      <vt:lpstr>Summary</vt:lpstr>
      <vt:lpstr>Discrete Variable</vt:lpstr>
      <vt:lpstr>Continuous Variable</vt:lpstr>
      <vt:lpstr>Categorical Data</vt:lpstr>
      <vt:lpstr>Types of Categorical Data 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AKSHITA CHANCHLANI</dc:creator>
  <cp:lastModifiedBy>sanchoudhari@outlook.com</cp:lastModifiedBy>
  <cp:revision>40</cp:revision>
  <dcterms:created xsi:type="dcterms:W3CDTF">2025-12-14T06:09:35Z</dcterms:created>
  <dcterms:modified xsi:type="dcterms:W3CDTF">2025-12-14T19:07:33Z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2025-12-14T00:00:00Z</vt:filetime>
  </property>
  <property fmtid="{D5CDD505-2E9C-101B-9397-08002B2CF9AE}" pid="5" name="Producer">
    <vt:lpwstr>3-Heights(TM) PDF Security Shell 4.8.25.2 (http://www.pdf-tools.com)</vt:lpwstr>
  </property>
</Properties>
</file>